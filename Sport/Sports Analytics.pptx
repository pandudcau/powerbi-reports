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2" r:id="rId14"/>
    <p:sldId id="283" r:id="rId15"/>
    <p:sldId id="284" r:id="rId16"/>
    <p:sldId id="285" r:id="rId17"/>
    <p:sldId id="286" r:id="rId18"/>
    <p:sldId id="287" r:id="rId19"/>
    <p:sldId id="269" r:id="rId20"/>
    <p:sldId id="270" r:id="rId21"/>
    <p:sldId id="271"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Trebuchet MS" panose="020B0603020202020204" pitchFamily="34" charset="0"/>
      <p:regular r:id="rId32"/>
      <p:bold r:id="rId33"/>
      <p:italic r:id="rId34"/>
      <p:boldItalic r:id="rId35"/>
    </p:embeddedFont>
    <p:embeddedFont>
      <p:font typeface="Yearbook Outline" panose="020B0604020202020204" charset="0"/>
      <p:regular r:id="rId36"/>
    </p:embeddedFont>
    <p:embeddedFont>
      <p:font typeface="Yearbook Soli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0" d="100"/>
          <a:sy n="40" d="100"/>
        </p:scale>
        <p:origin x="12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7.png"/><Relationship Id="rId2" Type="http://schemas.openxmlformats.org/officeDocument/2006/relationships/image" Target="../media/image3.png"/><Relationship Id="rId16"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8.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7.png"/><Relationship Id="rId2" Type="http://schemas.openxmlformats.org/officeDocument/2006/relationships/image" Target="../media/image3.png"/><Relationship Id="rId16"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8.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sp>
        <p:nvSpPr>
          <p:cNvPr id="2" name="Freeform 2"/>
          <p:cNvSpPr/>
          <p:nvPr/>
        </p:nvSpPr>
        <p:spPr>
          <a:xfrm>
            <a:off x="1009710" y="-916726"/>
            <a:ext cx="7412156" cy="8546511"/>
          </a:xfrm>
          <a:custGeom>
            <a:avLst/>
            <a:gdLst/>
            <a:ahLst/>
            <a:cxnLst/>
            <a:rect l="l" t="t" r="r" b="b"/>
            <a:pathLst>
              <a:path w="7412156" h="8546511">
                <a:moveTo>
                  <a:pt x="0" y="0"/>
                </a:moveTo>
                <a:lnTo>
                  <a:pt x="7412156" y="0"/>
                </a:lnTo>
                <a:lnTo>
                  <a:pt x="7412156" y="8546511"/>
                </a:lnTo>
                <a:lnTo>
                  <a:pt x="0" y="85465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695098" y="-192587"/>
            <a:ext cx="9493702" cy="10999254"/>
            <a:chOff x="0" y="0"/>
            <a:chExt cx="2500399" cy="2896923"/>
          </a:xfrm>
        </p:grpSpPr>
        <p:sp>
          <p:nvSpPr>
            <p:cNvPr id="4" name="Freeform 4"/>
            <p:cNvSpPr/>
            <p:nvPr/>
          </p:nvSpPr>
          <p:spPr>
            <a:xfrm>
              <a:off x="0" y="0"/>
              <a:ext cx="2500399" cy="2896923"/>
            </a:xfrm>
            <a:custGeom>
              <a:avLst/>
              <a:gdLst/>
              <a:ahLst/>
              <a:cxnLst/>
              <a:rect l="l" t="t" r="r" b="b"/>
              <a:pathLst>
                <a:path w="2500399" h="2896923">
                  <a:moveTo>
                    <a:pt x="0" y="0"/>
                  </a:moveTo>
                  <a:lnTo>
                    <a:pt x="2500399" y="0"/>
                  </a:lnTo>
                  <a:lnTo>
                    <a:pt x="2500399" y="2896923"/>
                  </a:lnTo>
                  <a:lnTo>
                    <a:pt x="0" y="2896923"/>
                  </a:lnTo>
                  <a:close/>
                </a:path>
              </a:pathLst>
            </a:custGeom>
            <a:solidFill>
              <a:srgbClr val="000000"/>
            </a:solidFill>
          </p:spPr>
          <p:txBody>
            <a:bodyPr/>
            <a:lstStyle/>
            <a:p>
              <a:endParaRPr lang="en-US"/>
            </a:p>
          </p:txBody>
        </p:sp>
        <p:sp>
          <p:nvSpPr>
            <p:cNvPr id="5" name="TextBox 5"/>
            <p:cNvSpPr txBox="1"/>
            <p:nvPr/>
          </p:nvSpPr>
          <p:spPr>
            <a:xfrm>
              <a:off x="0" y="-38100"/>
              <a:ext cx="2500399" cy="293502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2031671" y="-192587"/>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4">
              <a:alphaModFix amt="42000"/>
            </a:blip>
            <a:stretch>
              <a:fillRect/>
            </a:stretch>
          </a:blipFill>
        </p:spPr>
        <p:txBody>
          <a:bodyPr/>
          <a:lstStyle/>
          <a:p>
            <a:endParaRPr lang="en-US"/>
          </a:p>
        </p:txBody>
      </p:sp>
      <p:grpSp>
        <p:nvGrpSpPr>
          <p:cNvPr id="7" name="Group 7"/>
          <p:cNvGrpSpPr/>
          <p:nvPr/>
        </p:nvGrpSpPr>
        <p:grpSpPr>
          <a:xfrm>
            <a:off x="5297029" y="1445533"/>
            <a:ext cx="2674167" cy="3619960"/>
            <a:chOff x="0" y="0"/>
            <a:chExt cx="1079403" cy="1461163"/>
          </a:xfrm>
        </p:grpSpPr>
        <p:sp>
          <p:nvSpPr>
            <p:cNvPr id="8" name="Freeform 8"/>
            <p:cNvSpPr/>
            <p:nvPr/>
          </p:nvSpPr>
          <p:spPr>
            <a:xfrm>
              <a:off x="0" y="0"/>
              <a:ext cx="1079403" cy="1461163"/>
            </a:xfrm>
            <a:custGeom>
              <a:avLst/>
              <a:gdLst/>
              <a:ahLst/>
              <a:cxnLst/>
              <a:rect l="l" t="t" r="r" b="b"/>
              <a:pathLst>
                <a:path w="1079403" h="1461163">
                  <a:moveTo>
                    <a:pt x="95538" y="0"/>
                  </a:moveTo>
                  <a:lnTo>
                    <a:pt x="983865" y="0"/>
                  </a:lnTo>
                  <a:cubicBezTo>
                    <a:pt x="1009203" y="0"/>
                    <a:pt x="1033504" y="10066"/>
                    <a:pt x="1051420" y="27982"/>
                  </a:cubicBezTo>
                  <a:cubicBezTo>
                    <a:pt x="1069337" y="45899"/>
                    <a:pt x="1079403" y="70199"/>
                    <a:pt x="1079403" y="95538"/>
                  </a:cubicBezTo>
                  <a:lnTo>
                    <a:pt x="1079403" y="1365626"/>
                  </a:lnTo>
                  <a:cubicBezTo>
                    <a:pt x="1079403" y="1418390"/>
                    <a:pt x="1036629" y="1461163"/>
                    <a:pt x="983865" y="1461163"/>
                  </a:cubicBezTo>
                  <a:lnTo>
                    <a:pt x="95538" y="1461163"/>
                  </a:lnTo>
                  <a:cubicBezTo>
                    <a:pt x="42774" y="1461163"/>
                    <a:pt x="0" y="1418390"/>
                    <a:pt x="0" y="1365626"/>
                  </a:cubicBezTo>
                  <a:lnTo>
                    <a:pt x="0" y="95538"/>
                  </a:lnTo>
                  <a:cubicBezTo>
                    <a:pt x="0" y="42774"/>
                    <a:pt x="42774" y="0"/>
                    <a:pt x="95538" y="0"/>
                  </a:cubicBezTo>
                  <a:close/>
                </a:path>
              </a:pathLst>
            </a:custGeom>
            <a:solidFill>
              <a:srgbClr val="A84F26"/>
            </a:solidFill>
          </p:spPr>
          <p:txBody>
            <a:bodyPr/>
            <a:lstStyle/>
            <a:p>
              <a:endParaRPr lang="en-US"/>
            </a:p>
          </p:txBody>
        </p:sp>
        <p:sp>
          <p:nvSpPr>
            <p:cNvPr id="9" name="TextBox 9"/>
            <p:cNvSpPr txBox="1"/>
            <p:nvPr/>
          </p:nvSpPr>
          <p:spPr>
            <a:xfrm>
              <a:off x="0" y="-38100"/>
              <a:ext cx="1079403" cy="1499263"/>
            </a:xfrm>
            <a:prstGeom prst="rect">
              <a:avLst/>
            </a:prstGeom>
          </p:spPr>
          <p:txBody>
            <a:bodyPr lIns="33147" tIns="33147" rIns="33147" bIns="33147" rtlCol="0" anchor="ctr"/>
            <a:lstStyle/>
            <a:p>
              <a:pPr algn="ctr">
                <a:lnSpc>
                  <a:spcPts val="2660"/>
                </a:lnSpc>
              </a:pPr>
              <a:endParaRPr/>
            </a:p>
          </p:txBody>
        </p:sp>
      </p:grpSp>
      <p:sp>
        <p:nvSpPr>
          <p:cNvPr id="10" name="Freeform 10"/>
          <p:cNvSpPr/>
          <p:nvPr/>
        </p:nvSpPr>
        <p:spPr>
          <a:xfrm>
            <a:off x="5832947" y="1545729"/>
            <a:ext cx="1843025" cy="3419567"/>
          </a:xfrm>
          <a:custGeom>
            <a:avLst/>
            <a:gdLst/>
            <a:ahLst/>
            <a:cxnLst/>
            <a:rect l="l" t="t" r="r" b="b"/>
            <a:pathLst>
              <a:path w="1843025" h="3419567">
                <a:moveTo>
                  <a:pt x="0" y="0"/>
                </a:moveTo>
                <a:lnTo>
                  <a:pt x="1843025" y="0"/>
                </a:lnTo>
                <a:lnTo>
                  <a:pt x="1843025" y="3419568"/>
                </a:lnTo>
                <a:lnTo>
                  <a:pt x="0" y="3419568"/>
                </a:lnTo>
                <a:lnTo>
                  <a:pt x="0" y="0"/>
                </a:lnTo>
                <a:close/>
              </a:path>
            </a:pathLst>
          </a:custGeom>
          <a:blipFill>
            <a:blip r:embed="rId5"/>
            <a:stretch>
              <a:fillRect/>
            </a:stretch>
          </a:blipFill>
        </p:spPr>
        <p:txBody>
          <a:bodyPr/>
          <a:lstStyle/>
          <a:p>
            <a:endParaRPr lang="en-US"/>
          </a:p>
        </p:txBody>
      </p:sp>
      <p:grpSp>
        <p:nvGrpSpPr>
          <p:cNvPr id="11" name="Group 11"/>
          <p:cNvGrpSpPr/>
          <p:nvPr/>
        </p:nvGrpSpPr>
        <p:grpSpPr>
          <a:xfrm>
            <a:off x="343681" y="-715850"/>
            <a:ext cx="4372107" cy="5438613"/>
            <a:chOff x="0" y="0"/>
            <a:chExt cx="1984044" cy="2468020"/>
          </a:xfrm>
        </p:grpSpPr>
        <p:sp>
          <p:nvSpPr>
            <p:cNvPr id="12" name="Freeform 12"/>
            <p:cNvSpPr/>
            <p:nvPr/>
          </p:nvSpPr>
          <p:spPr>
            <a:xfrm>
              <a:off x="0" y="0"/>
              <a:ext cx="1984044" cy="2468020"/>
            </a:xfrm>
            <a:custGeom>
              <a:avLst/>
              <a:gdLst/>
              <a:ahLst/>
              <a:cxnLst/>
              <a:rect l="l" t="t" r="r" b="b"/>
              <a:pathLst>
                <a:path w="1984044" h="2468020">
                  <a:moveTo>
                    <a:pt x="53123" y="0"/>
                  </a:moveTo>
                  <a:lnTo>
                    <a:pt x="1930921" y="0"/>
                  </a:lnTo>
                  <a:cubicBezTo>
                    <a:pt x="1945010" y="0"/>
                    <a:pt x="1958522" y="5597"/>
                    <a:pt x="1968485" y="15559"/>
                  </a:cubicBezTo>
                  <a:cubicBezTo>
                    <a:pt x="1978447" y="25522"/>
                    <a:pt x="1984044" y="39034"/>
                    <a:pt x="1984044" y="53123"/>
                  </a:cubicBezTo>
                  <a:lnTo>
                    <a:pt x="1984044" y="2414898"/>
                  </a:lnTo>
                  <a:cubicBezTo>
                    <a:pt x="1984044" y="2444236"/>
                    <a:pt x="1960260" y="2468020"/>
                    <a:pt x="1930921" y="2468020"/>
                  </a:cubicBezTo>
                  <a:lnTo>
                    <a:pt x="53123" y="2468020"/>
                  </a:lnTo>
                  <a:cubicBezTo>
                    <a:pt x="23784" y="2468020"/>
                    <a:pt x="0" y="2444236"/>
                    <a:pt x="0" y="2414898"/>
                  </a:cubicBezTo>
                  <a:lnTo>
                    <a:pt x="0" y="53123"/>
                  </a:lnTo>
                  <a:cubicBezTo>
                    <a:pt x="0" y="23784"/>
                    <a:pt x="23784" y="0"/>
                    <a:pt x="53123" y="0"/>
                  </a:cubicBezTo>
                  <a:close/>
                </a:path>
              </a:pathLst>
            </a:custGeom>
            <a:solidFill>
              <a:srgbClr val="A82447"/>
            </a:solidFill>
          </p:spPr>
          <p:txBody>
            <a:bodyPr/>
            <a:lstStyle/>
            <a:p>
              <a:endParaRPr lang="en-US"/>
            </a:p>
          </p:txBody>
        </p:sp>
        <p:sp>
          <p:nvSpPr>
            <p:cNvPr id="13" name="TextBox 13"/>
            <p:cNvSpPr txBox="1"/>
            <p:nvPr/>
          </p:nvSpPr>
          <p:spPr>
            <a:xfrm>
              <a:off x="0" y="-38100"/>
              <a:ext cx="1984044" cy="2506120"/>
            </a:xfrm>
            <a:prstGeom prst="rect">
              <a:avLst/>
            </a:prstGeom>
          </p:spPr>
          <p:txBody>
            <a:bodyPr lIns="29483" tIns="29483" rIns="29483" bIns="29483" rtlCol="0" anchor="ctr"/>
            <a:lstStyle/>
            <a:p>
              <a:pPr algn="ctr">
                <a:lnSpc>
                  <a:spcPts val="2659"/>
                </a:lnSpc>
              </a:pPr>
              <a:endParaRPr/>
            </a:p>
          </p:txBody>
        </p:sp>
      </p:grpSp>
      <p:sp>
        <p:nvSpPr>
          <p:cNvPr id="14" name="Freeform 14"/>
          <p:cNvSpPr/>
          <p:nvPr/>
        </p:nvSpPr>
        <p:spPr>
          <a:xfrm>
            <a:off x="697071" y="530521"/>
            <a:ext cx="3547709" cy="3939029"/>
          </a:xfrm>
          <a:custGeom>
            <a:avLst/>
            <a:gdLst/>
            <a:ahLst/>
            <a:cxnLst/>
            <a:rect l="l" t="t" r="r" b="b"/>
            <a:pathLst>
              <a:path w="3547709" h="3939029">
                <a:moveTo>
                  <a:pt x="0" y="0"/>
                </a:moveTo>
                <a:lnTo>
                  <a:pt x="3547709" y="0"/>
                </a:lnTo>
                <a:lnTo>
                  <a:pt x="3547709" y="3939030"/>
                </a:lnTo>
                <a:lnTo>
                  <a:pt x="0" y="3939030"/>
                </a:lnTo>
                <a:lnTo>
                  <a:pt x="0" y="0"/>
                </a:lnTo>
                <a:close/>
              </a:path>
            </a:pathLst>
          </a:custGeom>
          <a:blipFill>
            <a:blip r:embed="rId6"/>
            <a:stretch>
              <a:fillRect/>
            </a:stretch>
          </a:blipFill>
        </p:spPr>
        <p:txBody>
          <a:bodyPr/>
          <a:lstStyle/>
          <a:p>
            <a:endParaRPr lang="en-US"/>
          </a:p>
        </p:txBody>
      </p:sp>
      <p:grpSp>
        <p:nvGrpSpPr>
          <p:cNvPr id="15" name="Group 15"/>
          <p:cNvGrpSpPr/>
          <p:nvPr/>
        </p:nvGrpSpPr>
        <p:grpSpPr>
          <a:xfrm>
            <a:off x="796920" y="5065493"/>
            <a:ext cx="3749695" cy="4788957"/>
            <a:chOff x="0" y="0"/>
            <a:chExt cx="2184921" cy="2790491"/>
          </a:xfrm>
        </p:grpSpPr>
        <p:sp>
          <p:nvSpPr>
            <p:cNvPr id="16" name="Freeform 16"/>
            <p:cNvSpPr/>
            <p:nvPr/>
          </p:nvSpPr>
          <p:spPr>
            <a:xfrm>
              <a:off x="0" y="0"/>
              <a:ext cx="2184921" cy="2790491"/>
            </a:xfrm>
            <a:custGeom>
              <a:avLst/>
              <a:gdLst/>
              <a:ahLst/>
              <a:cxnLst/>
              <a:rect l="l" t="t" r="r" b="b"/>
              <a:pathLst>
                <a:path w="2184921" h="2790491">
                  <a:moveTo>
                    <a:pt x="86717" y="0"/>
                  </a:moveTo>
                  <a:lnTo>
                    <a:pt x="2098204" y="0"/>
                  </a:lnTo>
                  <a:cubicBezTo>
                    <a:pt x="2121203" y="0"/>
                    <a:pt x="2143260" y="9136"/>
                    <a:pt x="2159522" y="25399"/>
                  </a:cubicBezTo>
                  <a:cubicBezTo>
                    <a:pt x="2175785" y="41661"/>
                    <a:pt x="2184921" y="63718"/>
                    <a:pt x="2184921" y="86717"/>
                  </a:cubicBezTo>
                  <a:lnTo>
                    <a:pt x="2184921" y="2703774"/>
                  </a:lnTo>
                  <a:cubicBezTo>
                    <a:pt x="2184921" y="2751667"/>
                    <a:pt x="2146097" y="2790491"/>
                    <a:pt x="2098204" y="2790491"/>
                  </a:cubicBezTo>
                  <a:lnTo>
                    <a:pt x="86717" y="2790491"/>
                  </a:lnTo>
                  <a:cubicBezTo>
                    <a:pt x="38824" y="2790491"/>
                    <a:pt x="0" y="2751667"/>
                    <a:pt x="0" y="2703774"/>
                  </a:cubicBezTo>
                  <a:lnTo>
                    <a:pt x="0" y="86717"/>
                  </a:lnTo>
                  <a:cubicBezTo>
                    <a:pt x="0" y="38824"/>
                    <a:pt x="38824" y="0"/>
                    <a:pt x="86717" y="0"/>
                  </a:cubicBezTo>
                  <a:close/>
                </a:path>
              </a:pathLst>
            </a:custGeom>
            <a:solidFill>
              <a:srgbClr val="DD9C47"/>
            </a:solidFill>
          </p:spPr>
          <p:txBody>
            <a:bodyPr/>
            <a:lstStyle/>
            <a:p>
              <a:endParaRPr lang="en-US"/>
            </a:p>
          </p:txBody>
        </p:sp>
        <p:sp>
          <p:nvSpPr>
            <p:cNvPr id="17" name="TextBox 17"/>
            <p:cNvSpPr txBox="1"/>
            <p:nvPr/>
          </p:nvSpPr>
          <p:spPr>
            <a:xfrm>
              <a:off x="0" y="-38100"/>
              <a:ext cx="2184921" cy="2828591"/>
            </a:xfrm>
            <a:prstGeom prst="rect">
              <a:avLst/>
            </a:prstGeom>
          </p:spPr>
          <p:txBody>
            <a:bodyPr lIns="22961" tIns="22961" rIns="22961" bIns="22961" rtlCol="0" anchor="ctr"/>
            <a:lstStyle/>
            <a:p>
              <a:pPr algn="ctr">
                <a:lnSpc>
                  <a:spcPts val="2660"/>
                </a:lnSpc>
              </a:pPr>
              <a:endParaRPr/>
            </a:p>
          </p:txBody>
        </p:sp>
      </p:grpSp>
      <p:sp>
        <p:nvSpPr>
          <p:cNvPr id="18" name="Freeform 18"/>
          <p:cNvSpPr/>
          <p:nvPr/>
        </p:nvSpPr>
        <p:spPr>
          <a:xfrm rot="-451173">
            <a:off x="881726" y="5763548"/>
            <a:ext cx="3497221" cy="3051901"/>
          </a:xfrm>
          <a:custGeom>
            <a:avLst/>
            <a:gdLst/>
            <a:ahLst/>
            <a:cxnLst/>
            <a:rect l="l" t="t" r="r" b="b"/>
            <a:pathLst>
              <a:path w="3497221" h="3051901">
                <a:moveTo>
                  <a:pt x="0" y="0"/>
                </a:moveTo>
                <a:lnTo>
                  <a:pt x="3497221" y="0"/>
                </a:lnTo>
                <a:lnTo>
                  <a:pt x="3497221" y="3051901"/>
                </a:lnTo>
                <a:lnTo>
                  <a:pt x="0" y="3051901"/>
                </a:lnTo>
                <a:lnTo>
                  <a:pt x="0" y="0"/>
                </a:lnTo>
                <a:close/>
              </a:path>
            </a:pathLst>
          </a:custGeom>
          <a:blipFill>
            <a:blip r:embed="rId7"/>
            <a:stretch>
              <a:fillRect/>
            </a:stretch>
          </a:blipFill>
        </p:spPr>
        <p:txBody>
          <a:bodyPr/>
          <a:lstStyle/>
          <a:p>
            <a:endParaRPr lang="en-US"/>
          </a:p>
        </p:txBody>
      </p:sp>
      <p:grpSp>
        <p:nvGrpSpPr>
          <p:cNvPr id="19" name="Group 19"/>
          <p:cNvGrpSpPr/>
          <p:nvPr/>
        </p:nvGrpSpPr>
        <p:grpSpPr>
          <a:xfrm>
            <a:off x="5163641" y="6083855"/>
            <a:ext cx="3181637" cy="4463618"/>
            <a:chOff x="0" y="0"/>
            <a:chExt cx="1650034" cy="2314884"/>
          </a:xfrm>
        </p:grpSpPr>
        <p:sp>
          <p:nvSpPr>
            <p:cNvPr id="20" name="Freeform 20"/>
            <p:cNvSpPr/>
            <p:nvPr/>
          </p:nvSpPr>
          <p:spPr>
            <a:xfrm>
              <a:off x="0" y="0"/>
              <a:ext cx="1650034" cy="2314884"/>
            </a:xfrm>
            <a:custGeom>
              <a:avLst/>
              <a:gdLst/>
              <a:ahLst/>
              <a:cxnLst/>
              <a:rect l="l" t="t" r="r" b="b"/>
              <a:pathLst>
                <a:path w="1650034" h="2314884">
                  <a:moveTo>
                    <a:pt x="75433" y="0"/>
                  </a:moveTo>
                  <a:lnTo>
                    <a:pt x="1574601" y="0"/>
                  </a:lnTo>
                  <a:cubicBezTo>
                    <a:pt x="1594607" y="0"/>
                    <a:pt x="1613794" y="7947"/>
                    <a:pt x="1627940" y="22094"/>
                  </a:cubicBezTo>
                  <a:cubicBezTo>
                    <a:pt x="1642087" y="36240"/>
                    <a:pt x="1650034" y="55427"/>
                    <a:pt x="1650034" y="75433"/>
                  </a:cubicBezTo>
                  <a:lnTo>
                    <a:pt x="1650034" y="2239452"/>
                  </a:lnTo>
                  <a:cubicBezTo>
                    <a:pt x="1650034" y="2259458"/>
                    <a:pt x="1642087" y="2278644"/>
                    <a:pt x="1627940" y="2292791"/>
                  </a:cubicBezTo>
                  <a:cubicBezTo>
                    <a:pt x="1613794" y="2306937"/>
                    <a:pt x="1594607" y="2314884"/>
                    <a:pt x="1574601" y="2314884"/>
                  </a:cubicBezTo>
                  <a:lnTo>
                    <a:pt x="75433" y="2314884"/>
                  </a:lnTo>
                  <a:cubicBezTo>
                    <a:pt x="55427" y="2314884"/>
                    <a:pt x="36240" y="2306937"/>
                    <a:pt x="22094" y="2292791"/>
                  </a:cubicBezTo>
                  <a:cubicBezTo>
                    <a:pt x="7947" y="2278644"/>
                    <a:pt x="0" y="2259458"/>
                    <a:pt x="0" y="2239452"/>
                  </a:cubicBezTo>
                  <a:lnTo>
                    <a:pt x="0" y="75433"/>
                  </a:lnTo>
                  <a:cubicBezTo>
                    <a:pt x="0" y="55427"/>
                    <a:pt x="7947" y="36240"/>
                    <a:pt x="22094" y="22094"/>
                  </a:cubicBezTo>
                  <a:cubicBezTo>
                    <a:pt x="36240" y="7947"/>
                    <a:pt x="55427" y="0"/>
                    <a:pt x="75433" y="0"/>
                  </a:cubicBezTo>
                  <a:close/>
                </a:path>
              </a:pathLst>
            </a:custGeom>
            <a:solidFill>
              <a:srgbClr val="443096"/>
            </a:solidFill>
          </p:spPr>
          <p:txBody>
            <a:bodyPr/>
            <a:lstStyle/>
            <a:p>
              <a:endParaRPr lang="en-US"/>
            </a:p>
          </p:txBody>
        </p:sp>
        <p:sp>
          <p:nvSpPr>
            <p:cNvPr id="21" name="TextBox 21"/>
            <p:cNvSpPr txBox="1"/>
            <p:nvPr/>
          </p:nvSpPr>
          <p:spPr>
            <a:xfrm>
              <a:off x="0" y="-38100"/>
              <a:ext cx="1650034" cy="2352984"/>
            </a:xfrm>
            <a:prstGeom prst="rect">
              <a:avLst/>
            </a:prstGeom>
          </p:spPr>
          <p:txBody>
            <a:bodyPr lIns="30648" tIns="30648" rIns="30648" bIns="30648" rtlCol="0" anchor="ctr"/>
            <a:lstStyle/>
            <a:p>
              <a:pPr algn="ctr">
                <a:lnSpc>
                  <a:spcPts val="2659"/>
                </a:lnSpc>
              </a:pPr>
              <a:endParaRPr/>
            </a:p>
          </p:txBody>
        </p:sp>
      </p:grpSp>
      <p:sp>
        <p:nvSpPr>
          <p:cNvPr id="22" name="Freeform 22"/>
          <p:cNvSpPr/>
          <p:nvPr/>
        </p:nvSpPr>
        <p:spPr>
          <a:xfrm rot="484463">
            <a:off x="5537347" y="6351487"/>
            <a:ext cx="2586176" cy="3604426"/>
          </a:xfrm>
          <a:custGeom>
            <a:avLst/>
            <a:gdLst/>
            <a:ahLst/>
            <a:cxnLst/>
            <a:rect l="l" t="t" r="r" b="b"/>
            <a:pathLst>
              <a:path w="2586176" h="3604426">
                <a:moveTo>
                  <a:pt x="0" y="0"/>
                </a:moveTo>
                <a:lnTo>
                  <a:pt x="2586175" y="0"/>
                </a:lnTo>
                <a:lnTo>
                  <a:pt x="2586175" y="3604426"/>
                </a:lnTo>
                <a:lnTo>
                  <a:pt x="0" y="3604426"/>
                </a:lnTo>
                <a:lnTo>
                  <a:pt x="0" y="0"/>
                </a:lnTo>
                <a:close/>
              </a:path>
            </a:pathLst>
          </a:custGeom>
          <a:blipFill>
            <a:blip r:embed="rId8"/>
            <a:stretch>
              <a:fillRect/>
            </a:stretch>
          </a:blipFill>
        </p:spPr>
        <p:txBody>
          <a:bodyPr/>
          <a:lstStyle/>
          <a:p>
            <a:endParaRPr lang="en-US"/>
          </a:p>
        </p:txBody>
      </p:sp>
      <p:grpSp>
        <p:nvGrpSpPr>
          <p:cNvPr id="23" name="Group 23"/>
          <p:cNvGrpSpPr/>
          <p:nvPr/>
        </p:nvGrpSpPr>
        <p:grpSpPr>
          <a:xfrm>
            <a:off x="6500084" y="-3132181"/>
            <a:ext cx="2059005" cy="4032733"/>
            <a:chOff x="0" y="0"/>
            <a:chExt cx="1067824" cy="2091422"/>
          </a:xfrm>
        </p:grpSpPr>
        <p:sp>
          <p:nvSpPr>
            <p:cNvPr id="24" name="Freeform 24"/>
            <p:cNvSpPr/>
            <p:nvPr/>
          </p:nvSpPr>
          <p:spPr>
            <a:xfrm>
              <a:off x="0" y="0"/>
              <a:ext cx="1067824" cy="2091422"/>
            </a:xfrm>
            <a:custGeom>
              <a:avLst/>
              <a:gdLst/>
              <a:ahLst/>
              <a:cxnLst/>
              <a:rect l="l" t="t" r="r" b="b"/>
              <a:pathLst>
                <a:path w="1067824" h="2091422">
                  <a:moveTo>
                    <a:pt x="116561" y="0"/>
                  </a:moveTo>
                  <a:lnTo>
                    <a:pt x="951263" y="0"/>
                  </a:lnTo>
                  <a:cubicBezTo>
                    <a:pt x="982177" y="0"/>
                    <a:pt x="1011825" y="12280"/>
                    <a:pt x="1033684" y="34140"/>
                  </a:cubicBezTo>
                  <a:cubicBezTo>
                    <a:pt x="1055544" y="55999"/>
                    <a:pt x="1067824" y="85647"/>
                    <a:pt x="1067824" y="116561"/>
                  </a:cubicBezTo>
                  <a:lnTo>
                    <a:pt x="1067824" y="1974861"/>
                  </a:lnTo>
                  <a:cubicBezTo>
                    <a:pt x="1067824" y="2005775"/>
                    <a:pt x="1055544" y="2035423"/>
                    <a:pt x="1033684" y="2057282"/>
                  </a:cubicBezTo>
                  <a:cubicBezTo>
                    <a:pt x="1011825" y="2079142"/>
                    <a:pt x="982177" y="2091422"/>
                    <a:pt x="951263" y="2091422"/>
                  </a:cubicBezTo>
                  <a:lnTo>
                    <a:pt x="116561" y="2091422"/>
                  </a:lnTo>
                  <a:cubicBezTo>
                    <a:pt x="85647" y="2091422"/>
                    <a:pt x="55999" y="2079142"/>
                    <a:pt x="34140" y="2057282"/>
                  </a:cubicBezTo>
                  <a:cubicBezTo>
                    <a:pt x="12280" y="2035423"/>
                    <a:pt x="0" y="2005775"/>
                    <a:pt x="0" y="1974861"/>
                  </a:cubicBezTo>
                  <a:lnTo>
                    <a:pt x="0" y="116561"/>
                  </a:lnTo>
                  <a:cubicBezTo>
                    <a:pt x="0" y="85647"/>
                    <a:pt x="12280" y="55999"/>
                    <a:pt x="34140" y="34140"/>
                  </a:cubicBezTo>
                  <a:cubicBezTo>
                    <a:pt x="55999" y="12280"/>
                    <a:pt x="85647" y="0"/>
                    <a:pt x="116561" y="0"/>
                  </a:cubicBezTo>
                  <a:close/>
                </a:path>
              </a:pathLst>
            </a:custGeom>
            <a:solidFill>
              <a:srgbClr val="D0CCD2"/>
            </a:solidFill>
          </p:spPr>
          <p:txBody>
            <a:bodyPr/>
            <a:lstStyle/>
            <a:p>
              <a:endParaRPr lang="en-US"/>
            </a:p>
          </p:txBody>
        </p:sp>
        <p:sp>
          <p:nvSpPr>
            <p:cNvPr id="25" name="TextBox 25"/>
            <p:cNvSpPr txBox="1"/>
            <p:nvPr/>
          </p:nvSpPr>
          <p:spPr>
            <a:xfrm>
              <a:off x="0" y="-38100"/>
              <a:ext cx="1067824" cy="2129522"/>
            </a:xfrm>
            <a:prstGeom prst="rect">
              <a:avLst/>
            </a:prstGeom>
          </p:spPr>
          <p:txBody>
            <a:bodyPr lIns="30648" tIns="30648" rIns="30648" bIns="30648" rtlCol="0" anchor="ctr"/>
            <a:lstStyle/>
            <a:p>
              <a:pPr algn="ctr">
                <a:lnSpc>
                  <a:spcPts val="2659"/>
                </a:lnSpc>
              </a:pPr>
              <a:endParaRPr/>
            </a:p>
          </p:txBody>
        </p:sp>
      </p:grpSp>
      <p:sp>
        <p:nvSpPr>
          <p:cNvPr id="26" name="Freeform 26"/>
          <p:cNvSpPr/>
          <p:nvPr/>
        </p:nvSpPr>
        <p:spPr>
          <a:xfrm>
            <a:off x="6768952" y="-715850"/>
            <a:ext cx="1576327" cy="1414753"/>
          </a:xfrm>
          <a:custGeom>
            <a:avLst/>
            <a:gdLst/>
            <a:ahLst/>
            <a:cxnLst/>
            <a:rect l="l" t="t" r="r" b="b"/>
            <a:pathLst>
              <a:path w="1576327" h="1414753">
                <a:moveTo>
                  <a:pt x="0" y="0"/>
                </a:moveTo>
                <a:lnTo>
                  <a:pt x="1576326" y="0"/>
                </a:lnTo>
                <a:lnTo>
                  <a:pt x="1576326" y="1414753"/>
                </a:lnTo>
                <a:lnTo>
                  <a:pt x="0" y="1414753"/>
                </a:lnTo>
                <a:lnTo>
                  <a:pt x="0" y="0"/>
                </a:lnTo>
                <a:close/>
              </a:path>
            </a:pathLst>
          </a:custGeom>
          <a:blipFill>
            <a:blip r:embed="rId9"/>
            <a:stretch>
              <a:fillRect/>
            </a:stretch>
          </a:blipFill>
        </p:spPr>
        <p:txBody>
          <a:bodyPr/>
          <a:lstStyle/>
          <a:p>
            <a:endParaRPr lang="en-US"/>
          </a:p>
        </p:txBody>
      </p:sp>
      <p:sp>
        <p:nvSpPr>
          <p:cNvPr id="27" name="TextBox 27"/>
          <p:cNvSpPr txBox="1"/>
          <p:nvPr/>
        </p:nvSpPr>
        <p:spPr>
          <a:xfrm>
            <a:off x="9478428" y="4477275"/>
            <a:ext cx="7567187" cy="1169294"/>
          </a:xfrm>
          <a:prstGeom prst="rect">
            <a:avLst/>
          </a:prstGeom>
        </p:spPr>
        <p:txBody>
          <a:bodyPr lIns="0" tIns="0" rIns="0" bIns="0" rtlCol="0" anchor="t">
            <a:spAutoFit/>
          </a:bodyPr>
          <a:lstStyle/>
          <a:p>
            <a:pPr algn="l">
              <a:lnSpc>
                <a:spcPts val="8949"/>
              </a:lnSpc>
            </a:pPr>
            <a:r>
              <a:rPr lang="en-US" sz="8443">
                <a:solidFill>
                  <a:srgbClr val="000000"/>
                </a:solidFill>
                <a:latin typeface="Yearbook Solid"/>
              </a:rPr>
              <a:t>// topic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sp>
        <p:nvSpPr>
          <p:cNvPr id="2" name="Freeform 2"/>
          <p:cNvSpPr/>
          <p:nvPr/>
        </p:nvSpPr>
        <p:spPr>
          <a:xfrm>
            <a:off x="-285407" y="-310471"/>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2"/>
            <a:stretch>
              <a:fillRect/>
            </a:stretch>
          </a:blipFill>
        </p:spPr>
        <p:txBody>
          <a:bodyPr/>
          <a:lstStyle/>
          <a:p>
            <a:endParaRPr lang="en-US"/>
          </a:p>
        </p:txBody>
      </p:sp>
      <p:sp>
        <p:nvSpPr>
          <p:cNvPr id="3" name="Freeform 3"/>
          <p:cNvSpPr/>
          <p:nvPr/>
        </p:nvSpPr>
        <p:spPr>
          <a:xfrm>
            <a:off x="10430390" y="-310471"/>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2"/>
            <a:stretch>
              <a:fillRect/>
            </a:stretch>
          </a:blipFill>
        </p:spPr>
        <p:txBody>
          <a:bodyPr/>
          <a:lstStyle/>
          <a:p>
            <a:endParaRPr lang="en-US"/>
          </a:p>
        </p:txBody>
      </p:sp>
      <p:grpSp>
        <p:nvGrpSpPr>
          <p:cNvPr id="4" name="Group 4"/>
          <p:cNvGrpSpPr/>
          <p:nvPr/>
        </p:nvGrpSpPr>
        <p:grpSpPr>
          <a:xfrm>
            <a:off x="9563627" y="242452"/>
            <a:ext cx="9990717" cy="9867222"/>
            <a:chOff x="0" y="0"/>
            <a:chExt cx="4533747" cy="4477705"/>
          </a:xfrm>
        </p:grpSpPr>
        <p:sp>
          <p:nvSpPr>
            <p:cNvPr id="5" name="Freeform 5"/>
            <p:cNvSpPr/>
            <p:nvPr/>
          </p:nvSpPr>
          <p:spPr>
            <a:xfrm>
              <a:off x="0" y="0"/>
              <a:ext cx="4533747" cy="4477705"/>
            </a:xfrm>
            <a:custGeom>
              <a:avLst/>
              <a:gdLst/>
              <a:ahLst/>
              <a:cxnLst/>
              <a:rect l="l" t="t" r="r" b="b"/>
              <a:pathLst>
                <a:path w="4533747" h="4477705">
                  <a:moveTo>
                    <a:pt x="23247" y="0"/>
                  </a:moveTo>
                  <a:lnTo>
                    <a:pt x="4510499" y="0"/>
                  </a:lnTo>
                  <a:cubicBezTo>
                    <a:pt x="4523338" y="0"/>
                    <a:pt x="4533747" y="10408"/>
                    <a:pt x="4533747" y="23247"/>
                  </a:cubicBezTo>
                  <a:lnTo>
                    <a:pt x="4533747" y="4454458"/>
                  </a:lnTo>
                  <a:cubicBezTo>
                    <a:pt x="4533747" y="4467297"/>
                    <a:pt x="4523338" y="4477705"/>
                    <a:pt x="4510499" y="4477705"/>
                  </a:cubicBezTo>
                  <a:lnTo>
                    <a:pt x="23247" y="4477705"/>
                  </a:lnTo>
                  <a:cubicBezTo>
                    <a:pt x="10408" y="4477705"/>
                    <a:pt x="0" y="4467297"/>
                    <a:pt x="0" y="4454458"/>
                  </a:cubicBezTo>
                  <a:lnTo>
                    <a:pt x="0" y="23247"/>
                  </a:lnTo>
                  <a:cubicBezTo>
                    <a:pt x="0" y="10408"/>
                    <a:pt x="10408" y="0"/>
                    <a:pt x="23247" y="0"/>
                  </a:cubicBezTo>
                  <a:close/>
                </a:path>
              </a:pathLst>
            </a:custGeom>
            <a:solidFill>
              <a:srgbClr val="A82447"/>
            </a:solidFill>
          </p:spPr>
          <p:txBody>
            <a:bodyPr/>
            <a:lstStyle/>
            <a:p>
              <a:endParaRPr lang="en-US"/>
            </a:p>
          </p:txBody>
        </p:sp>
        <p:sp>
          <p:nvSpPr>
            <p:cNvPr id="6" name="TextBox 6"/>
            <p:cNvSpPr txBox="1"/>
            <p:nvPr/>
          </p:nvSpPr>
          <p:spPr>
            <a:xfrm>
              <a:off x="0" y="-38100"/>
              <a:ext cx="4533747" cy="4515805"/>
            </a:xfrm>
            <a:prstGeom prst="rect">
              <a:avLst/>
            </a:prstGeom>
          </p:spPr>
          <p:txBody>
            <a:bodyPr lIns="29483" tIns="29483" rIns="29483" bIns="29483" rtlCol="0" anchor="ctr"/>
            <a:lstStyle/>
            <a:p>
              <a:pPr algn="ctr">
                <a:lnSpc>
                  <a:spcPts val="2659"/>
                </a:lnSpc>
              </a:pPr>
              <a:endParaRPr/>
            </a:p>
          </p:txBody>
        </p:sp>
      </p:grpSp>
      <p:sp>
        <p:nvSpPr>
          <p:cNvPr id="7" name="Freeform 7"/>
          <p:cNvSpPr/>
          <p:nvPr/>
        </p:nvSpPr>
        <p:spPr>
          <a:xfrm rot="-679784">
            <a:off x="10059639" y="342194"/>
            <a:ext cx="10045256" cy="9170293"/>
          </a:xfrm>
          <a:custGeom>
            <a:avLst/>
            <a:gdLst/>
            <a:ahLst/>
            <a:cxnLst/>
            <a:rect l="l" t="t" r="r" b="b"/>
            <a:pathLst>
              <a:path w="10045256" h="9170293">
                <a:moveTo>
                  <a:pt x="0" y="0"/>
                </a:moveTo>
                <a:lnTo>
                  <a:pt x="10045257" y="0"/>
                </a:lnTo>
                <a:lnTo>
                  <a:pt x="10045257" y="9170293"/>
                </a:lnTo>
                <a:lnTo>
                  <a:pt x="0" y="9170293"/>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209769" y="713632"/>
            <a:ext cx="11019422" cy="2894387"/>
          </a:xfrm>
          <a:prstGeom prst="rect">
            <a:avLst/>
          </a:prstGeom>
        </p:spPr>
        <p:txBody>
          <a:bodyPr lIns="0" tIns="0" rIns="0" bIns="0" rtlCol="0" anchor="t">
            <a:spAutoFit/>
          </a:bodyPr>
          <a:lstStyle/>
          <a:p>
            <a:pPr algn="ctr">
              <a:lnSpc>
                <a:spcPts val="11274"/>
              </a:lnSpc>
            </a:pPr>
            <a:r>
              <a:rPr lang="en-US" sz="10636">
                <a:solidFill>
                  <a:srgbClr val="000000"/>
                </a:solidFill>
                <a:latin typeface="Yearbook Solid"/>
              </a:rPr>
              <a:t>What is Sports Analytics</a:t>
            </a:r>
          </a:p>
        </p:txBody>
      </p:sp>
      <p:sp>
        <p:nvSpPr>
          <p:cNvPr id="9" name="TextBox 9"/>
          <p:cNvSpPr txBox="1"/>
          <p:nvPr/>
        </p:nvSpPr>
        <p:spPr>
          <a:xfrm>
            <a:off x="1230385" y="4303348"/>
            <a:ext cx="7798690" cy="4954952"/>
          </a:xfrm>
          <a:prstGeom prst="rect">
            <a:avLst/>
          </a:prstGeom>
        </p:spPr>
        <p:txBody>
          <a:bodyPr lIns="0" tIns="0" rIns="0" bIns="0" rtlCol="0" anchor="t">
            <a:spAutoFit/>
          </a:bodyPr>
          <a:lstStyle/>
          <a:p>
            <a:pPr algn="l">
              <a:lnSpc>
                <a:spcPts val="3042"/>
              </a:lnSpc>
            </a:pPr>
            <a:r>
              <a:rPr lang="en-US" sz="2173">
                <a:solidFill>
                  <a:srgbClr val="000000"/>
                </a:solidFill>
                <a:latin typeface="Trebuchet MS"/>
              </a:rPr>
              <a:t>Sports analytics is built around a framework that comprises three main elements: data management, predictive models, and information systems. The goal is straightforward: to help decision-makers—from executives to coaches—gain a competitive edge. In practice, data flows through an organization, is processed, and becomes actionable insights. The data management function organizes this raw information, which then feeds into predictive models and information systems. These models can generate standardized results or answer specific questions on demand. Finally, the information system delivers these insights to the decision-makers in a format that’s easy to interpret and act upon. </a:t>
            </a:r>
          </a:p>
          <a:p>
            <a:pPr marL="0" lvl="0" indent="0" algn="l">
              <a:lnSpc>
                <a:spcPts val="3042"/>
              </a:lnSpc>
            </a:pPr>
            <a:endParaRPr lang="en-US" sz="2173">
              <a:solidFill>
                <a:srgbClr val="000000"/>
              </a:solidFill>
              <a:latin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217" y="-141004"/>
            <a:ext cx="10759770" cy="10784131"/>
            <a:chOff x="0" y="0"/>
            <a:chExt cx="2833849" cy="2840265"/>
          </a:xfrm>
        </p:grpSpPr>
        <p:sp>
          <p:nvSpPr>
            <p:cNvPr id="3" name="Freeform 3"/>
            <p:cNvSpPr/>
            <p:nvPr/>
          </p:nvSpPr>
          <p:spPr>
            <a:xfrm>
              <a:off x="0" y="0"/>
              <a:ext cx="2833849" cy="2840265"/>
            </a:xfrm>
            <a:custGeom>
              <a:avLst/>
              <a:gdLst/>
              <a:ahLst/>
              <a:cxnLst/>
              <a:rect l="l" t="t" r="r" b="b"/>
              <a:pathLst>
                <a:path w="2833849" h="2840265">
                  <a:moveTo>
                    <a:pt x="0" y="0"/>
                  </a:moveTo>
                  <a:lnTo>
                    <a:pt x="2833849" y="0"/>
                  </a:lnTo>
                  <a:lnTo>
                    <a:pt x="2833849" y="2840265"/>
                  </a:lnTo>
                  <a:lnTo>
                    <a:pt x="0" y="2840265"/>
                  </a:lnTo>
                  <a:close/>
                </a:path>
              </a:pathLst>
            </a:custGeom>
            <a:solidFill>
              <a:srgbClr val="140F0D"/>
            </a:solidFill>
          </p:spPr>
          <p:txBody>
            <a:bodyPr/>
            <a:lstStyle/>
            <a:p>
              <a:endParaRPr lang="en-US"/>
            </a:p>
          </p:txBody>
        </p:sp>
        <p:sp>
          <p:nvSpPr>
            <p:cNvPr id="4" name="TextBox 4"/>
            <p:cNvSpPr txBox="1"/>
            <p:nvPr/>
          </p:nvSpPr>
          <p:spPr>
            <a:xfrm>
              <a:off x="0" y="-38100"/>
              <a:ext cx="2833849" cy="2878365"/>
            </a:xfrm>
            <a:prstGeom prst="rect">
              <a:avLst/>
            </a:prstGeom>
          </p:spPr>
          <p:txBody>
            <a:bodyPr lIns="50800" tIns="50800" rIns="50800" bIns="50800" rtlCol="0" anchor="ctr"/>
            <a:lstStyle/>
            <a:p>
              <a:pPr algn="ctr">
                <a:lnSpc>
                  <a:spcPts val="3376"/>
                </a:lnSpc>
              </a:pPr>
              <a:endParaRPr/>
            </a:p>
          </p:txBody>
        </p:sp>
      </p:grpSp>
      <p:sp>
        <p:nvSpPr>
          <p:cNvPr id="5" name="Freeform 5"/>
          <p:cNvSpPr/>
          <p:nvPr/>
        </p:nvSpPr>
        <p:spPr>
          <a:xfrm>
            <a:off x="9595964" y="-154741"/>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2">
              <a:alphaModFix amt="42000"/>
            </a:blip>
            <a:stretch>
              <a:fillRect/>
            </a:stretch>
          </a:blipFill>
        </p:spPr>
        <p:txBody>
          <a:bodyPr/>
          <a:lstStyle/>
          <a:p>
            <a:endParaRPr lang="en-US"/>
          </a:p>
        </p:txBody>
      </p:sp>
      <p:grpSp>
        <p:nvGrpSpPr>
          <p:cNvPr id="6" name="Group 6"/>
          <p:cNvGrpSpPr/>
          <p:nvPr/>
        </p:nvGrpSpPr>
        <p:grpSpPr>
          <a:xfrm>
            <a:off x="11645985" y="3852736"/>
            <a:ext cx="2176683" cy="2815321"/>
            <a:chOff x="0" y="0"/>
            <a:chExt cx="1268338" cy="1640468"/>
          </a:xfrm>
        </p:grpSpPr>
        <p:sp>
          <p:nvSpPr>
            <p:cNvPr id="7" name="Freeform 7"/>
            <p:cNvSpPr/>
            <p:nvPr/>
          </p:nvSpPr>
          <p:spPr>
            <a:xfrm>
              <a:off x="0" y="0"/>
              <a:ext cx="1268338" cy="1640468"/>
            </a:xfrm>
            <a:custGeom>
              <a:avLst/>
              <a:gdLst/>
              <a:ahLst/>
              <a:cxnLst/>
              <a:rect l="l" t="t" r="r" b="b"/>
              <a:pathLst>
                <a:path w="1268338" h="1640468">
                  <a:moveTo>
                    <a:pt x="149384" y="0"/>
                  </a:moveTo>
                  <a:lnTo>
                    <a:pt x="1118954" y="0"/>
                  </a:lnTo>
                  <a:cubicBezTo>
                    <a:pt x="1158573" y="0"/>
                    <a:pt x="1196570" y="15739"/>
                    <a:pt x="1224585" y="43753"/>
                  </a:cubicBezTo>
                  <a:cubicBezTo>
                    <a:pt x="1252599" y="71768"/>
                    <a:pt x="1268338" y="109765"/>
                    <a:pt x="1268338" y="149384"/>
                  </a:cubicBezTo>
                  <a:lnTo>
                    <a:pt x="1268338" y="1491084"/>
                  </a:lnTo>
                  <a:cubicBezTo>
                    <a:pt x="1268338" y="1530703"/>
                    <a:pt x="1252599" y="1568699"/>
                    <a:pt x="1224585" y="1596714"/>
                  </a:cubicBezTo>
                  <a:cubicBezTo>
                    <a:pt x="1196570" y="1624729"/>
                    <a:pt x="1158573" y="1640468"/>
                    <a:pt x="1118954" y="1640468"/>
                  </a:cubicBezTo>
                  <a:lnTo>
                    <a:pt x="149384" y="1640468"/>
                  </a:lnTo>
                  <a:cubicBezTo>
                    <a:pt x="109765" y="1640468"/>
                    <a:pt x="71768" y="1624729"/>
                    <a:pt x="43753" y="1596714"/>
                  </a:cubicBezTo>
                  <a:cubicBezTo>
                    <a:pt x="15739" y="1568699"/>
                    <a:pt x="0" y="1530703"/>
                    <a:pt x="0" y="1491084"/>
                  </a:cubicBezTo>
                  <a:lnTo>
                    <a:pt x="0" y="149384"/>
                  </a:lnTo>
                  <a:cubicBezTo>
                    <a:pt x="0" y="109765"/>
                    <a:pt x="15739" y="71768"/>
                    <a:pt x="43753" y="43753"/>
                  </a:cubicBezTo>
                  <a:cubicBezTo>
                    <a:pt x="71768" y="15739"/>
                    <a:pt x="109765" y="0"/>
                    <a:pt x="149384" y="0"/>
                  </a:cubicBezTo>
                  <a:close/>
                </a:path>
              </a:pathLst>
            </a:custGeom>
            <a:solidFill>
              <a:srgbClr val="F5CAB3"/>
            </a:solidFill>
          </p:spPr>
          <p:txBody>
            <a:bodyPr/>
            <a:lstStyle/>
            <a:p>
              <a:endParaRPr lang="en-US"/>
            </a:p>
          </p:txBody>
        </p:sp>
        <p:sp>
          <p:nvSpPr>
            <p:cNvPr id="8" name="TextBox 8"/>
            <p:cNvSpPr txBox="1"/>
            <p:nvPr/>
          </p:nvSpPr>
          <p:spPr>
            <a:xfrm>
              <a:off x="0" y="-38100"/>
              <a:ext cx="1268338" cy="1678568"/>
            </a:xfrm>
            <a:prstGeom prst="rect">
              <a:avLst/>
            </a:prstGeom>
          </p:spPr>
          <p:txBody>
            <a:bodyPr lIns="22961" tIns="22961" rIns="22961" bIns="22961" rtlCol="0" anchor="ctr"/>
            <a:lstStyle/>
            <a:p>
              <a:pPr algn="ctr">
                <a:lnSpc>
                  <a:spcPts val="2660"/>
                </a:lnSpc>
              </a:pPr>
              <a:endParaRPr/>
            </a:p>
          </p:txBody>
        </p:sp>
      </p:grpSp>
      <p:sp>
        <p:nvSpPr>
          <p:cNvPr id="9" name="Freeform 9"/>
          <p:cNvSpPr/>
          <p:nvPr/>
        </p:nvSpPr>
        <p:spPr>
          <a:xfrm>
            <a:off x="11712446" y="4066966"/>
            <a:ext cx="2110223" cy="2343217"/>
          </a:xfrm>
          <a:custGeom>
            <a:avLst/>
            <a:gdLst/>
            <a:ahLst/>
            <a:cxnLst/>
            <a:rect l="l" t="t" r="r" b="b"/>
            <a:pathLst>
              <a:path w="2110223" h="2343217">
                <a:moveTo>
                  <a:pt x="0" y="0"/>
                </a:moveTo>
                <a:lnTo>
                  <a:pt x="2110223" y="0"/>
                </a:lnTo>
                <a:lnTo>
                  <a:pt x="2110223" y="2343217"/>
                </a:lnTo>
                <a:lnTo>
                  <a:pt x="0" y="2343217"/>
                </a:lnTo>
                <a:lnTo>
                  <a:pt x="0" y="0"/>
                </a:lnTo>
                <a:close/>
              </a:path>
            </a:pathLst>
          </a:custGeom>
          <a:blipFill>
            <a:blip r:embed="rId3"/>
            <a:stretch>
              <a:fillRect/>
            </a:stretch>
          </a:blipFill>
        </p:spPr>
        <p:txBody>
          <a:bodyPr/>
          <a:lstStyle/>
          <a:p>
            <a:endParaRPr lang="en-US"/>
          </a:p>
        </p:txBody>
      </p:sp>
      <p:grpSp>
        <p:nvGrpSpPr>
          <p:cNvPr id="10" name="Group 10"/>
          <p:cNvGrpSpPr/>
          <p:nvPr/>
        </p:nvGrpSpPr>
        <p:grpSpPr>
          <a:xfrm>
            <a:off x="9985943" y="6945395"/>
            <a:ext cx="2858925" cy="3697732"/>
            <a:chOff x="0" y="0"/>
            <a:chExt cx="1268338" cy="1640468"/>
          </a:xfrm>
        </p:grpSpPr>
        <p:sp>
          <p:nvSpPr>
            <p:cNvPr id="11" name="Freeform 11"/>
            <p:cNvSpPr/>
            <p:nvPr/>
          </p:nvSpPr>
          <p:spPr>
            <a:xfrm>
              <a:off x="0" y="0"/>
              <a:ext cx="1268338" cy="1640468"/>
            </a:xfrm>
            <a:custGeom>
              <a:avLst/>
              <a:gdLst/>
              <a:ahLst/>
              <a:cxnLst/>
              <a:rect l="l" t="t" r="r" b="b"/>
              <a:pathLst>
                <a:path w="1268338" h="1640468">
                  <a:moveTo>
                    <a:pt x="81239" y="0"/>
                  </a:moveTo>
                  <a:lnTo>
                    <a:pt x="1187098" y="0"/>
                  </a:lnTo>
                  <a:cubicBezTo>
                    <a:pt x="1208645" y="0"/>
                    <a:pt x="1229308" y="8559"/>
                    <a:pt x="1244544" y="23794"/>
                  </a:cubicBezTo>
                  <a:cubicBezTo>
                    <a:pt x="1259779" y="39030"/>
                    <a:pt x="1268338" y="59693"/>
                    <a:pt x="1268338" y="81239"/>
                  </a:cubicBezTo>
                  <a:lnTo>
                    <a:pt x="1268338" y="1559228"/>
                  </a:lnTo>
                  <a:cubicBezTo>
                    <a:pt x="1268338" y="1604096"/>
                    <a:pt x="1231966" y="1640468"/>
                    <a:pt x="1187098" y="1640468"/>
                  </a:cubicBezTo>
                  <a:lnTo>
                    <a:pt x="81239" y="1640468"/>
                  </a:lnTo>
                  <a:cubicBezTo>
                    <a:pt x="36372" y="1640468"/>
                    <a:pt x="0" y="1604096"/>
                    <a:pt x="0" y="1559228"/>
                  </a:cubicBezTo>
                  <a:lnTo>
                    <a:pt x="0" y="81239"/>
                  </a:lnTo>
                  <a:cubicBezTo>
                    <a:pt x="0" y="36372"/>
                    <a:pt x="36372" y="0"/>
                    <a:pt x="81239" y="0"/>
                  </a:cubicBezTo>
                  <a:close/>
                </a:path>
              </a:pathLst>
            </a:custGeom>
            <a:solidFill>
              <a:srgbClr val="4D3699"/>
            </a:solidFill>
          </p:spPr>
          <p:txBody>
            <a:bodyPr/>
            <a:lstStyle/>
            <a:p>
              <a:endParaRPr lang="en-US"/>
            </a:p>
          </p:txBody>
        </p:sp>
        <p:sp>
          <p:nvSpPr>
            <p:cNvPr id="12" name="TextBox 12"/>
            <p:cNvSpPr txBox="1"/>
            <p:nvPr/>
          </p:nvSpPr>
          <p:spPr>
            <a:xfrm>
              <a:off x="0" y="-38100"/>
              <a:ext cx="1268338" cy="1678568"/>
            </a:xfrm>
            <a:prstGeom prst="rect">
              <a:avLst/>
            </a:prstGeom>
          </p:spPr>
          <p:txBody>
            <a:bodyPr lIns="30158" tIns="30158" rIns="30158" bIns="30158" rtlCol="0" anchor="ctr"/>
            <a:lstStyle/>
            <a:p>
              <a:pPr algn="ctr">
                <a:lnSpc>
                  <a:spcPts val="2659"/>
                </a:lnSpc>
              </a:pPr>
              <a:endParaRPr/>
            </a:p>
          </p:txBody>
        </p:sp>
      </p:grpSp>
      <p:sp>
        <p:nvSpPr>
          <p:cNvPr id="13" name="Freeform 13"/>
          <p:cNvSpPr/>
          <p:nvPr/>
        </p:nvSpPr>
        <p:spPr>
          <a:xfrm>
            <a:off x="10131463" y="7583846"/>
            <a:ext cx="2700740" cy="2624228"/>
          </a:xfrm>
          <a:custGeom>
            <a:avLst/>
            <a:gdLst/>
            <a:ahLst/>
            <a:cxnLst/>
            <a:rect l="l" t="t" r="r" b="b"/>
            <a:pathLst>
              <a:path w="2700740" h="2624228">
                <a:moveTo>
                  <a:pt x="0" y="0"/>
                </a:moveTo>
                <a:lnTo>
                  <a:pt x="2700740" y="0"/>
                </a:lnTo>
                <a:lnTo>
                  <a:pt x="2700740" y="2624228"/>
                </a:lnTo>
                <a:lnTo>
                  <a:pt x="0" y="2624228"/>
                </a:lnTo>
                <a:lnTo>
                  <a:pt x="0" y="0"/>
                </a:lnTo>
                <a:close/>
              </a:path>
            </a:pathLst>
          </a:custGeom>
          <a:blipFill>
            <a:blip r:embed="rId4"/>
            <a:stretch>
              <a:fillRect/>
            </a:stretch>
          </a:blipFill>
        </p:spPr>
        <p:txBody>
          <a:bodyPr/>
          <a:lstStyle/>
          <a:p>
            <a:endParaRPr lang="en-US"/>
          </a:p>
        </p:txBody>
      </p:sp>
      <p:grpSp>
        <p:nvGrpSpPr>
          <p:cNvPr id="14" name="Group 14"/>
          <p:cNvGrpSpPr/>
          <p:nvPr/>
        </p:nvGrpSpPr>
        <p:grpSpPr>
          <a:xfrm>
            <a:off x="-695098" y="-356127"/>
            <a:ext cx="10326315" cy="10999254"/>
            <a:chOff x="0" y="0"/>
            <a:chExt cx="2719688" cy="2896923"/>
          </a:xfrm>
        </p:grpSpPr>
        <p:sp>
          <p:nvSpPr>
            <p:cNvPr id="15" name="Freeform 15"/>
            <p:cNvSpPr/>
            <p:nvPr/>
          </p:nvSpPr>
          <p:spPr>
            <a:xfrm>
              <a:off x="0" y="0"/>
              <a:ext cx="2719688" cy="2896923"/>
            </a:xfrm>
            <a:custGeom>
              <a:avLst/>
              <a:gdLst/>
              <a:ahLst/>
              <a:cxnLst/>
              <a:rect l="l" t="t" r="r" b="b"/>
              <a:pathLst>
                <a:path w="2719688" h="2896923">
                  <a:moveTo>
                    <a:pt x="0" y="0"/>
                  </a:moveTo>
                  <a:lnTo>
                    <a:pt x="2719688" y="0"/>
                  </a:lnTo>
                  <a:lnTo>
                    <a:pt x="2719688" y="2896923"/>
                  </a:lnTo>
                  <a:lnTo>
                    <a:pt x="0" y="2896923"/>
                  </a:lnTo>
                  <a:close/>
                </a:path>
              </a:pathLst>
            </a:custGeom>
            <a:solidFill>
              <a:srgbClr val="ECE4DB"/>
            </a:solidFill>
          </p:spPr>
          <p:txBody>
            <a:bodyPr/>
            <a:lstStyle/>
            <a:p>
              <a:endParaRPr lang="en-US"/>
            </a:p>
          </p:txBody>
        </p:sp>
        <p:sp>
          <p:nvSpPr>
            <p:cNvPr id="16" name="TextBox 16"/>
            <p:cNvSpPr txBox="1"/>
            <p:nvPr/>
          </p:nvSpPr>
          <p:spPr>
            <a:xfrm>
              <a:off x="0" y="-38100"/>
              <a:ext cx="2719688" cy="2935023"/>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3822669" y="6804988"/>
            <a:ext cx="4038366" cy="5223221"/>
            <a:chOff x="0" y="0"/>
            <a:chExt cx="1268338" cy="1640468"/>
          </a:xfrm>
        </p:grpSpPr>
        <p:sp>
          <p:nvSpPr>
            <p:cNvPr id="18" name="Freeform 18"/>
            <p:cNvSpPr/>
            <p:nvPr/>
          </p:nvSpPr>
          <p:spPr>
            <a:xfrm>
              <a:off x="0" y="0"/>
              <a:ext cx="1268338" cy="1640468"/>
            </a:xfrm>
            <a:custGeom>
              <a:avLst/>
              <a:gdLst/>
              <a:ahLst/>
              <a:cxnLst/>
              <a:rect l="l" t="t" r="r" b="b"/>
              <a:pathLst>
                <a:path w="1268338" h="1640468">
                  <a:moveTo>
                    <a:pt x="82435" y="0"/>
                  </a:moveTo>
                  <a:lnTo>
                    <a:pt x="1185903" y="0"/>
                  </a:lnTo>
                  <a:cubicBezTo>
                    <a:pt x="1207766" y="0"/>
                    <a:pt x="1228734" y="8685"/>
                    <a:pt x="1244193" y="24145"/>
                  </a:cubicBezTo>
                  <a:cubicBezTo>
                    <a:pt x="1259653" y="39604"/>
                    <a:pt x="1268338" y="60572"/>
                    <a:pt x="1268338" y="82435"/>
                  </a:cubicBezTo>
                  <a:lnTo>
                    <a:pt x="1268338" y="1558033"/>
                  </a:lnTo>
                  <a:cubicBezTo>
                    <a:pt x="1268338" y="1579896"/>
                    <a:pt x="1259653" y="1600864"/>
                    <a:pt x="1244193" y="1616323"/>
                  </a:cubicBezTo>
                  <a:cubicBezTo>
                    <a:pt x="1228734" y="1631783"/>
                    <a:pt x="1207766" y="1640468"/>
                    <a:pt x="1185903" y="1640468"/>
                  </a:cubicBezTo>
                  <a:lnTo>
                    <a:pt x="82435" y="1640468"/>
                  </a:lnTo>
                  <a:cubicBezTo>
                    <a:pt x="60572" y="1640468"/>
                    <a:pt x="39604" y="1631783"/>
                    <a:pt x="24145" y="1616323"/>
                  </a:cubicBezTo>
                  <a:cubicBezTo>
                    <a:pt x="8685" y="1600864"/>
                    <a:pt x="0" y="1579896"/>
                    <a:pt x="0" y="1558033"/>
                  </a:cubicBezTo>
                  <a:lnTo>
                    <a:pt x="0" y="82435"/>
                  </a:lnTo>
                  <a:cubicBezTo>
                    <a:pt x="0" y="60572"/>
                    <a:pt x="8685" y="39604"/>
                    <a:pt x="24145" y="24145"/>
                  </a:cubicBezTo>
                  <a:cubicBezTo>
                    <a:pt x="39604" y="8685"/>
                    <a:pt x="60572" y="0"/>
                    <a:pt x="82435" y="0"/>
                  </a:cubicBezTo>
                  <a:close/>
                </a:path>
              </a:pathLst>
            </a:custGeom>
            <a:solidFill>
              <a:srgbClr val="D0CCD2"/>
            </a:solidFill>
          </p:spPr>
          <p:txBody>
            <a:bodyPr/>
            <a:lstStyle/>
            <a:p>
              <a:endParaRPr lang="en-US"/>
            </a:p>
          </p:txBody>
        </p:sp>
        <p:sp>
          <p:nvSpPr>
            <p:cNvPr id="19" name="TextBox 19"/>
            <p:cNvSpPr txBox="1"/>
            <p:nvPr/>
          </p:nvSpPr>
          <p:spPr>
            <a:xfrm>
              <a:off x="0" y="-38100"/>
              <a:ext cx="1268338" cy="1678568"/>
            </a:xfrm>
            <a:prstGeom prst="rect">
              <a:avLst/>
            </a:prstGeom>
          </p:spPr>
          <p:txBody>
            <a:bodyPr lIns="42600" tIns="42600" rIns="42600" bIns="42600" rtlCol="0" anchor="ctr"/>
            <a:lstStyle/>
            <a:p>
              <a:pPr algn="ctr">
                <a:lnSpc>
                  <a:spcPts val="2660"/>
                </a:lnSpc>
              </a:pPr>
              <a:endParaRPr/>
            </a:p>
          </p:txBody>
        </p:sp>
      </p:grpSp>
      <p:sp>
        <p:nvSpPr>
          <p:cNvPr id="20" name="Freeform 20"/>
          <p:cNvSpPr/>
          <p:nvPr/>
        </p:nvSpPr>
        <p:spPr>
          <a:xfrm>
            <a:off x="13998371" y="7434494"/>
            <a:ext cx="4034124" cy="3941692"/>
          </a:xfrm>
          <a:custGeom>
            <a:avLst/>
            <a:gdLst/>
            <a:ahLst/>
            <a:cxnLst/>
            <a:rect l="l" t="t" r="r" b="b"/>
            <a:pathLst>
              <a:path w="4034124" h="3941692">
                <a:moveTo>
                  <a:pt x="0" y="0"/>
                </a:moveTo>
                <a:lnTo>
                  <a:pt x="4034124" y="0"/>
                </a:lnTo>
                <a:lnTo>
                  <a:pt x="4034124" y="3941692"/>
                </a:lnTo>
                <a:lnTo>
                  <a:pt x="0" y="3941692"/>
                </a:lnTo>
                <a:lnTo>
                  <a:pt x="0" y="0"/>
                </a:lnTo>
                <a:close/>
              </a:path>
            </a:pathLst>
          </a:custGeom>
          <a:blipFill>
            <a:blip r:embed="rId5"/>
            <a:stretch>
              <a:fillRect/>
            </a:stretch>
          </a:blipFill>
        </p:spPr>
        <p:txBody>
          <a:bodyPr/>
          <a:lstStyle/>
          <a:p>
            <a:endParaRPr lang="en-US"/>
          </a:p>
        </p:txBody>
      </p:sp>
      <p:grpSp>
        <p:nvGrpSpPr>
          <p:cNvPr id="21" name="Group 21"/>
          <p:cNvGrpSpPr/>
          <p:nvPr/>
        </p:nvGrpSpPr>
        <p:grpSpPr>
          <a:xfrm>
            <a:off x="14890250" y="2437462"/>
            <a:ext cx="3142245" cy="4064178"/>
            <a:chOff x="0" y="0"/>
            <a:chExt cx="1268338" cy="1640468"/>
          </a:xfrm>
        </p:grpSpPr>
        <p:sp>
          <p:nvSpPr>
            <p:cNvPr id="22" name="Freeform 22"/>
            <p:cNvSpPr/>
            <p:nvPr/>
          </p:nvSpPr>
          <p:spPr>
            <a:xfrm>
              <a:off x="0" y="0"/>
              <a:ext cx="1268338" cy="1640468"/>
            </a:xfrm>
            <a:custGeom>
              <a:avLst/>
              <a:gdLst/>
              <a:ahLst/>
              <a:cxnLst/>
              <a:rect l="l" t="t" r="r" b="b"/>
              <a:pathLst>
                <a:path w="1268338" h="1640468">
                  <a:moveTo>
                    <a:pt x="81306" y="0"/>
                  </a:moveTo>
                  <a:lnTo>
                    <a:pt x="1187032" y="0"/>
                  </a:lnTo>
                  <a:cubicBezTo>
                    <a:pt x="1208596" y="0"/>
                    <a:pt x="1229276" y="8566"/>
                    <a:pt x="1244524" y="23814"/>
                  </a:cubicBezTo>
                  <a:cubicBezTo>
                    <a:pt x="1259772" y="39062"/>
                    <a:pt x="1268338" y="59742"/>
                    <a:pt x="1268338" y="81306"/>
                  </a:cubicBezTo>
                  <a:lnTo>
                    <a:pt x="1268338" y="1559162"/>
                  </a:lnTo>
                  <a:cubicBezTo>
                    <a:pt x="1268338" y="1604066"/>
                    <a:pt x="1231936" y="1640468"/>
                    <a:pt x="1187032" y="1640468"/>
                  </a:cubicBezTo>
                  <a:lnTo>
                    <a:pt x="81306" y="1640468"/>
                  </a:lnTo>
                  <a:cubicBezTo>
                    <a:pt x="36402" y="1640468"/>
                    <a:pt x="0" y="1604066"/>
                    <a:pt x="0" y="1559162"/>
                  </a:cubicBezTo>
                  <a:lnTo>
                    <a:pt x="0" y="81306"/>
                  </a:lnTo>
                  <a:cubicBezTo>
                    <a:pt x="0" y="36402"/>
                    <a:pt x="36402" y="0"/>
                    <a:pt x="81306" y="0"/>
                  </a:cubicBezTo>
                  <a:close/>
                </a:path>
              </a:pathLst>
            </a:custGeom>
            <a:solidFill>
              <a:srgbClr val="A84F26"/>
            </a:solidFill>
          </p:spPr>
          <p:txBody>
            <a:bodyPr/>
            <a:lstStyle/>
            <a:p>
              <a:endParaRPr lang="en-US"/>
            </a:p>
          </p:txBody>
        </p:sp>
        <p:sp>
          <p:nvSpPr>
            <p:cNvPr id="23" name="TextBox 23"/>
            <p:cNvSpPr txBox="1"/>
            <p:nvPr/>
          </p:nvSpPr>
          <p:spPr>
            <a:xfrm>
              <a:off x="0" y="-38100"/>
              <a:ext cx="1268338" cy="1678568"/>
            </a:xfrm>
            <a:prstGeom prst="rect">
              <a:avLst/>
            </a:prstGeom>
          </p:spPr>
          <p:txBody>
            <a:bodyPr lIns="33147" tIns="33147" rIns="33147" bIns="33147" rtlCol="0" anchor="ctr"/>
            <a:lstStyle/>
            <a:p>
              <a:pPr algn="ctr">
                <a:lnSpc>
                  <a:spcPts val="2660"/>
                </a:lnSpc>
              </a:pPr>
              <a:endParaRPr/>
            </a:p>
          </p:txBody>
        </p:sp>
      </p:grpSp>
      <p:sp>
        <p:nvSpPr>
          <p:cNvPr id="24" name="Freeform 24"/>
          <p:cNvSpPr/>
          <p:nvPr/>
        </p:nvSpPr>
        <p:spPr>
          <a:xfrm>
            <a:off x="14997886" y="2983102"/>
            <a:ext cx="2926972" cy="2972897"/>
          </a:xfrm>
          <a:custGeom>
            <a:avLst/>
            <a:gdLst/>
            <a:ahLst/>
            <a:cxnLst/>
            <a:rect l="l" t="t" r="r" b="b"/>
            <a:pathLst>
              <a:path w="2926972" h="2972897">
                <a:moveTo>
                  <a:pt x="0" y="0"/>
                </a:moveTo>
                <a:lnTo>
                  <a:pt x="2926972" y="0"/>
                </a:lnTo>
                <a:lnTo>
                  <a:pt x="2926972" y="2972897"/>
                </a:lnTo>
                <a:lnTo>
                  <a:pt x="0" y="2972897"/>
                </a:lnTo>
                <a:lnTo>
                  <a:pt x="0" y="0"/>
                </a:lnTo>
                <a:close/>
              </a:path>
            </a:pathLst>
          </a:custGeom>
          <a:blipFill>
            <a:blip r:embed="rId6"/>
            <a:stretch>
              <a:fillRect/>
            </a:stretch>
          </a:blipFill>
        </p:spPr>
        <p:txBody>
          <a:bodyPr/>
          <a:lstStyle/>
          <a:p>
            <a:endParaRPr lang="en-US"/>
          </a:p>
        </p:txBody>
      </p:sp>
      <p:grpSp>
        <p:nvGrpSpPr>
          <p:cNvPr id="25" name="Group 25"/>
          <p:cNvGrpSpPr/>
          <p:nvPr/>
        </p:nvGrpSpPr>
        <p:grpSpPr>
          <a:xfrm>
            <a:off x="10168209" y="-234382"/>
            <a:ext cx="2794952" cy="3614990"/>
            <a:chOff x="0" y="0"/>
            <a:chExt cx="1268338" cy="1640468"/>
          </a:xfrm>
        </p:grpSpPr>
        <p:sp>
          <p:nvSpPr>
            <p:cNvPr id="26" name="Freeform 26"/>
            <p:cNvSpPr/>
            <p:nvPr/>
          </p:nvSpPr>
          <p:spPr>
            <a:xfrm>
              <a:off x="0" y="0"/>
              <a:ext cx="1268338" cy="1640468"/>
            </a:xfrm>
            <a:custGeom>
              <a:avLst/>
              <a:gdLst/>
              <a:ahLst/>
              <a:cxnLst/>
              <a:rect l="l" t="t" r="r" b="b"/>
              <a:pathLst>
                <a:path w="1268338" h="1640468">
                  <a:moveTo>
                    <a:pt x="83099" y="0"/>
                  </a:moveTo>
                  <a:lnTo>
                    <a:pt x="1185239" y="0"/>
                  </a:lnTo>
                  <a:cubicBezTo>
                    <a:pt x="1207278" y="0"/>
                    <a:pt x="1228415" y="8755"/>
                    <a:pt x="1243999" y="24339"/>
                  </a:cubicBezTo>
                  <a:cubicBezTo>
                    <a:pt x="1259583" y="39923"/>
                    <a:pt x="1268338" y="61060"/>
                    <a:pt x="1268338" y="83099"/>
                  </a:cubicBezTo>
                  <a:lnTo>
                    <a:pt x="1268338" y="1557369"/>
                  </a:lnTo>
                  <a:cubicBezTo>
                    <a:pt x="1268338" y="1579408"/>
                    <a:pt x="1259583" y="1600545"/>
                    <a:pt x="1243999" y="1616129"/>
                  </a:cubicBezTo>
                  <a:cubicBezTo>
                    <a:pt x="1228415" y="1631713"/>
                    <a:pt x="1207278" y="1640468"/>
                    <a:pt x="1185239" y="1640468"/>
                  </a:cubicBezTo>
                  <a:lnTo>
                    <a:pt x="83099" y="1640468"/>
                  </a:lnTo>
                  <a:cubicBezTo>
                    <a:pt x="61060" y="1640468"/>
                    <a:pt x="39923" y="1631713"/>
                    <a:pt x="24339" y="1616129"/>
                  </a:cubicBezTo>
                  <a:cubicBezTo>
                    <a:pt x="8755" y="1600545"/>
                    <a:pt x="0" y="1579408"/>
                    <a:pt x="0" y="1557369"/>
                  </a:cubicBezTo>
                  <a:lnTo>
                    <a:pt x="0" y="83099"/>
                  </a:lnTo>
                  <a:cubicBezTo>
                    <a:pt x="0" y="61060"/>
                    <a:pt x="8755" y="39923"/>
                    <a:pt x="24339" y="24339"/>
                  </a:cubicBezTo>
                  <a:cubicBezTo>
                    <a:pt x="39923" y="8755"/>
                    <a:pt x="61060" y="0"/>
                    <a:pt x="83099" y="0"/>
                  </a:cubicBezTo>
                  <a:close/>
                </a:path>
              </a:pathLst>
            </a:custGeom>
            <a:solidFill>
              <a:srgbClr val="A82447"/>
            </a:solidFill>
          </p:spPr>
          <p:txBody>
            <a:bodyPr/>
            <a:lstStyle/>
            <a:p>
              <a:endParaRPr lang="en-US"/>
            </a:p>
          </p:txBody>
        </p:sp>
        <p:sp>
          <p:nvSpPr>
            <p:cNvPr id="27" name="TextBox 27"/>
            <p:cNvSpPr txBox="1"/>
            <p:nvPr/>
          </p:nvSpPr>
          <p:spPr>
            <a:xfrm>
              <a:off x="0" y="-38100"/>
              <a:ext cx="1268338" cy="1678568"/>
            </a:xfrm>
            <a:prstGeom prst="rect">
              <a:avLst/>
            </a:prstGeom>
          </p:spPr>
          <p:txBody>
            <a:bodyPr lIns="29483" tIns="29483" rIns="29483" bIns="29483" rtlCol="0" anchor="ctr"/>
            <a:lstStyle/>
            <a:p>
              <a:pPr algn="ctr">
                <a:lnSpc>
                  <a:spcPts val="2659"/>
                </a:lnSpc>
              </a:pPr>
              <a:endParaRPr/>
            </a:p>
          </p:txBody>
        </p:sp>
      </p:grpSp>
      <p:sp>
        <p:nvSpPr>
          <p:cNvPr id="28" name="Freeform 28"/>
          <p:cNvSpPr/>
          <p:nvPr/>
        </p:nvSpPr>
        <p:spPr>
          <a:xfrm>
            <a:off x="10218518" y="45878"/>
            <a:ext cx="2694335" cy="2799309"/>
          </a:xfrm>
          <a:custGeom>
            <a:avLst/>
            <a:gdLst/>
            <a:ahLst/>
            <a:cxnLst/>
            <a:rect l="l" t="t" r="r" b="b"/>
            <a:pathLst>
              <a:path w="2694335" h="2799309">
                <a:moveTo>
                  <a:pt x="0" y="0"/>
                </a:moveTo>
                <a:lnTo>
                  <a:pt x="2694335" y="0"/>
                </a:lnTo>
                <a:lnTo>
                  <a:pt x="2694335" y="2799310"/>
                </a:lnTo>
                <a:lnTo>
                  <a:pt x="0" y="2799310"/>
                </a:lnTo>
                <a:lnTo>
                  <a:pt x="0" y="0"/>
                </a:lnTo>
                <a:close/>
              </a:path>
            </a:pathLst>
          </a:custGeom>
          <a:blipFill>
            <a:blip r:embed="rId7"/>
            <a:stretch>
              <a:fillRect/>
            </a:stretch>
          </a:blipFill>
        </p:spPr>
        <p:txBody>
          <a:bodyPr/>
          <a:lstStyle/>
          <a:p>
            <a:endParaRPr lang="en-US"/>
          </a:p>
        </p:txBody>
      </p:sp>
      <p:grpSp>
        <p:nvGrpSpPr>
          <p:cNvPr id="29" name="Group 29"/>
          <p:cNvGrpSpPr/>
          <p:nvPr/>
        </p:nvGrpSpPr>
        <p:grpSpPr>
          <a:xfrm>
            <a:off x="13839462" y="-1623736"/>
            <a:ext cx="2905404" cy="3757848"/>
            <a:chOff x="0" y="0"/>
            <a:chExt cx="1268338" cy="1640468"/>
          </a:xfrm>
        </p:grpSpPr>
        <p:sp>
          <p:nvSpPr>
            <p:cNvPr id="30" name="Freeform 30"/>
            <p:cNvSpPr/>
            <p:nvPr/>
          </p:nvSpPr>
          <p:spPr>
            <a:xfrm>
              <a:off x="0" y="0"/>
              <a:ext cx="1268338" cy="1640468"/>
            </a:xfrm>
            <a:custGeom>
              <a:avLst/>
              <a:gdLst/>
              <a:ahLst/>
              <a:cxnLst/>
              <a:rect l="l" t="t" r="r" b="b"/>
              <a:pathLst>
                <a:path w="1268338" h="1640468">
                  <a:moveTo>
                    <a:pt x="82605" y="0"/>
                  </a:moveTo>
                  <a:lnTo>
                    <a:pt x="1185733" y="0"/>
                  </a:lnTo>
                  <a:cubicBezTo>
                    <a:pt x="1207642" y="0"/>
                    <a:pt x="1228652" y="8703"/>
                    <a:pt x="1244144" y="24194"/>
                  </a:cubicBezTo>
                  <a:cubicBezTo>
                    <a:pt x="1259635" y="39686"/>
                    <a:pt x="1268338" y="60696"/>
                    <a:pt x="1268338" y="82605"/>
                  </a:cubicBezTo>
                  <a:lnTo>
                    <a:pt x="1268338" y="1557863"/>
                  </a:lnTo>
                  <a:cubicBezTo>
                    <a:pt x="1268338" y="1579771"/>
                    <a:pt x="1259635" y="1600782"/>
                    <a:pt x="1244144" y="1616273"/>
                  </a:cubicBezTo>
                  <a:cubicBezTo>
                    <a:pt x="1228652" y="1631765"/>
                    <a:pt x="1207642" y="1640468"/>
                    <a:pt x="1185733" y="1640468"/>
                  </a:cubicBezTo>
                  <a:lnTo>
                    <a:pt x="82605" y="1640468"/>
                  </a:lnTo>
                  <a:cubicBezTo>
                    <a:pt x="60696" y="1640468"/>
                    <a:pt x="39686" y="1631765"/>
                    <a:pt x="24194" y="1616273"/>
                  </a:cubicBezTo>
                  <a:cubicBezTo>
                    <a:pt x="8703" y="1600782"/>
                    <a:pt x="0" y="1579771"/>
                    <a:pt x="0" y="1557863"/>
                  </a:cubicBezTo>
                  <a:lnTo>
                    <a:pt x="0" y="82605"/>
                  </a:lnTo>
                  <a:cubicBezTo>
                    <a:pt x="0" y="60696"/>
                    <a:pt x="8703" y="39686"/>
                    <a:pt x="24194" y="24194"/>
                  </a:cubicBezTo>
                  <a:cubicBezTo>
                    <a:pt x="39686" y="8703"/>
                    <a:pt x="60696" y="0"/>
                    <a:pt x="82605" y="0"/>
                  </a:cubicBezTo>
                  <a:close/>
                </a:path>
              </a:pathLst>
            </a:custGeom>
            <a:solidFill>
              <a:srgbClr val="DD9C47"/>
            </a:solidFill>
          </p:spPr>
          <p:txBody>
            <a:bodyPr/>
            <a:lstStyle/>
            <a:p>
              <a:endParaRPr lang="en-US"/>
            </a:p>
          </p:txBody>
        </p:sp>
        <p:sp>
          <p:nvSpPr>
            <p:cNvPr id="31" name="TextBox 31"/>
            <p:cNvSpPr txBox="1"/>
            <p:nvPr/>
          </p:nvSpPr>
          <p:spPr>
            <a:xfrm>
              <a:off x="0" y="-38100"/>
              <a:ext cx="1268338" cy="1678568"/>
            </a:xfrm>
            <a:prstGeom prst="rect">
              <a:avLst/>
            </a:prstGeom>
          </p:spPr>
          <p:txBody>
            <a:bodyPr lIns="30648" tIns="30648" rIns="30648" bIns="30648" rtlCol="0" anchor="ctr"/>
            <a:lstStyle/>
            <a:p>
              <a:pPr algn="ctr">
                <a:lnSpc>
                  <a:spcPts val="2659"/>
                </a:lnSpc>
              </a:pPr>
              <a:endParaRPr/>
            </a:p>
          </p:txBody>
        </p:sp>
      </p:grpSp>
      <p:sp>
        <p:nvSpPr>
          <p:cNvPr id="32" name="Freeform 32"/>
          <p:cNvSpPr/>
          <p:nvPr/>
        </p:nvSpPr>
        <p:spPr>
          <a:xfrm>
            <a:off x="13949287" y="64675"/>
            <a:ext cx="2685753" cy="1611452"/>
          </a:xfrm>
          <a:custGeom>
            <a:avLst/>
            <a:gdLst/>
            <a:ahLst/>
            <a:cxnLst/>
            <a:rect l="l" t="t" r="r" b="b"/>
            <a:pathLst>
              <a:path w="2685753" h="1611452">
                <a:moveTo>
                  <a:pt x="0" y="0"/>
                </a:moveTo>
                <a:lnTo>
                  <a:pt x="2685753" y="0"/>
                </a:lnTo>
                <a:lnTo>
                  <a:pt x="2685753" y="1611452"/>
                </a:lnTo>
                <a:lnTo>
                  <a:pt x="0" y="1611452"/>
                </a:lnTo>
                <a:lnTo>
                  <a:pt x="0" y="0"/>
                </a:lnTo>
                <a:close/>
              </a:path>
            </a:pathLst>
          </a:custGeom>
          <a:blipFill>
            <a:blip r:embed="rId8"/>
            <a:stretch>
              <a:fillRect/>
            </a:stretch>
          </a:blipFill>
        </p:spPr>
        <p:txBody>
          <a:bodyPr/>
          <a:lstStyle/>
          <a:p>
            <a:endParaRPr lang="en-US"/>
          </a:p>
        </p:txBody>
      </p:sp>
      <p:sp>
        <p:nvSpPr>
          <p:cNvPr id="33" name="TextBox 33"/>
          <p:cNvSpPr txBox="1"/>
          <p:nvPr/>
        </p:nvSpPr>
        <p:spPr>
          <a:xfrm>
            <a:off x="357675" y="466063"/>
            <a:ext cx="11124158" cy="3386673"/>
          </a:xfrm>
          <a:prstGeom prst="rect">
            <a:avLst/>
          </a:prstGeom>
        </p:spPr>
        <p:txBody>
          <a:bodyPr lIns="0" tIns="0" rIns="0" bIns="0" rtlCol="0" anchor="t">
            <a:spAutoFit/>
          </a:bodyPr>
          <a:lstStyle/>
          <a:p>
            <a:pPr algn="l">
              <a:lnSpc>
                <a:spcPts val="8833"/>
              </a:lnSpc>
            </a:pPr>
            <a:r>
              <a:rPr lang="en-US" sz="8333">
                <a:solidFill>
                  <a:srgbClr val="000000"/>
                </a:solidFill>
                <a:latin typeface="Yearbook Solid"/>
              </a:rPr>
              <a:t>Visual of sports analytics framework</a:t>
            </a:r>
          </a:p>
        </p:txBody>
      </p:sp>
      <p:sp>
        <p:nvSpPr>
          <p:cNvPr id="34" name="TextBox 34"/>
          <p:cNvSpPr txBox="1"/>
          <p:nvPr/>
        </p:nvSpPr>
        <p:spPr>
          <a:xfrm>
            <a:off x="1028700" y="5076825"/>
            <a:ext cx="7910008" cy="2687860"/>
          </a:xfrm>
          <a:prstGeom prst="rect">
            <a:avLst/>
          </a:prstGeom>
        </p:spPr>
        <p:txBody>
          <a:bodyPr lIns="0" tIns="0" rIns="0" bIns="0" rtlCol="0" anchor="t">
            <a:spAutoFit/>
          </a:bodyPr>
          <a:lstStyle/>
          <a:p>
            <a:pPr algn="l">
              <a:lnSpc>
                <a:spcPts val="3575"/>
              </a:lnSpc>
            </a:pPr>
            <a:r>
              <a:rPr lang="en-US" sz="2553">
                <a:solidFill>
                  <a:srgbClr val="2B2125"/>
                </a:solidFill>
                <a:latin typeface="Trebuchet MS"/>
              </a:rPr>
              <a:t>An equally critical component is leadership. While having robust analytics tools can create a competitive edge, leadership plays a key role in defining an effective analytics strategy. It ensures that the organization fully utilizes its analytics capabilities.</a:t>
            </a:r>
          </a:p>
          <a:p>
            <a:pPr marL="0" lvl="0" indent="0" algn="l">
              <a:lnSpc>
                <a:spcPts val="3575"/>
              </a:lnSpc>
              <a:spcBef>
                <a:spcPct val="0"/>
              </a:spcBef>
            </a:pPr>
            <a:endParaRPr lang="en-US" sz="2553">
              <a:solidFill>
                <a:srgbClr val="2B2125"/>
              </a:solidFill>
              <a:latin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9631217" y="-248565"/>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3" name="Freeform 3"/>
          <p:cNvSpPr/>
          <p:nvPr/>
        </p:nvSpPr>
        <p:spPr>
          <a:xfrm>
            <a:off x="-1199058" y="-271638"/>
            <a:ext cx="10830275" cy="10830275"/>
          </a:xfrm>
          <a:custGeom>
            <a:avLst/>
            <a:gdLst/>
            <a:ahLst/>
            <a:cxnLst/>
            <a:rect l="l" t="t" r="r" b="b"/>
            <a:pathLst>
              <a:path w="10830275" h="10830275">
                <a:moveTo>
                  <a:pt x="0" y="0"/>
                </a:moveTo>
                <a:lnTo>
                  <a:pt x="10830275" y="0"/>
                </a:lnTo>
                <a:lnTo>
                  <a:pt x="10830275" y="10830276"/>
                </a:lnTo>
                <a:lnTo>
                  <a:pt x="0" y="10830276"/>
                </a:lnTo>
                <a:lnTo>
                  <a:pt x="0" y="0"/>
                </a:lnTo>
                <a:close/>
              </a:path>
            </a:pathLst>
          </a:custGeom>
          <a:blipFill>
            <a:blip r:embed="rId2">
              <a:alphaModFix amt="42000"/>
            </a:blip>
            <a:stretch>
              <a:fillRect/>
            </a:stretch>
          </a:blipFill>
        </p:spPr>
        <p:txBody>
          <a:bodyPr/>
          <a:lstStyle/>
          <a:p>
            <a:endParaRPr lang="en-US"/>
          </a:p>
        </p:txBody>
      </p:sp>
      <p:sp>
        <p:nvSpPr>
          <p:cNvPr id="4" name="TextBox 4"/>
          <p:cNvSpPr txBox="1"/>
          <p:nvPr/>
        </p:nvSpPr>
        <p:spPr>
          <a:xfrm>
            <a:off x="1028700" y="1023870"/>
            <a:ext cx="16230600" cy="2996583"/>
          </a:xfrm>
          <a:prstGeom prst="rect">
            <a:avLst/>
          </a:prstGeom>
        </p:spPr>
        <p:txBody>
          <a:bodyPr lIns="0" tIns="0" rIns="0" bIns="0" rtlCol="0" anchor="t">
            <a:spAutoFit/>
          </a:bodyPr>
          <a:lstStyle/>
          <a:p>
            <a:pPr algn="ctr">
              <a:lnSpc>
                <a:spcPts val="11698"/>
              </a:lnSpc>
            </a:pPr>
            <a:r>
              <a:rPr lang="en-US" sz="11036">
                <a:solidFill>
                  <a:srgbClr val="FFFFFF"/>
                </a:solidFill>
                <a:latin typeface="Yearbook Solid"/>
              </a:rPr>
              <a:t>What Are the Goals of Sports Analytics</a:t>
            </a:r>
          </a:p>
        </p:txBody>
      </p:sp>
      <p:grpSp>
        <p:nvGrpSpPr>
          <p:cNvPr id="5" name="Group 5"/>
          <p:cNvGrpSpPr/>
          <p:nvPr/>
        </p:nvGrpSpPr>
        <p:grpSpPr>
          <a:xfrm>
            <a:off x="548379" y="5564405"/>
            <a:ext cx="8387819" cy="3349797"/>
            <a:chOff x="0" y="0"/>
            <a:chExt cx="2209137" cy="882251"/>
          </a:xfrm>
        </p:grpSpPr>
        <p:sp>
          <p:nvSpPr>
            <p:cNvPr id="6" name="Freeform 6"/>
            <p:cNvSpPr/>
            <p:nvPr/>
          </p:nvSpPr>
          <p:spPr>
            <a:xfrm>
              <a:off x="0" y="0"/>
              <a:ext cx="2209137" cy="882251"/>
            </a:xfrm>
            <a:custGeom>
              <a:avLst/>
              <a:gdLst/>
              <a:ahLst/>
              <a:cxnLst/>
              <a:rect l="l" t="t" r="r" b="b"/>
              <a:pathLst>
                <a:path w="2209137" h="882251">
                  <a:moveTo>
                    <a:pt x="35997" y="0"/>
                  </a:moveTo>
                  <a:lnTo>
                    <a:pt x="2173141" y="0"/>
                  </a:lnTo>
                  <a:cubicBezTo>
                    <a:pt x="2193021" y="0"/>
                    <a:pt x="2209137" y="16116"/>
                    <a:pt x="2209137" y="35997"/>
                  </a:cubicBezTo>
                  <a:lnTo>
                    <a:pt x="2209137" y="846254"/>
                  </a:lnTo>
                  <a:cubicBezTo>
                    <a:pt x="2209137" y="866135"/>
                    <a:pt x="2193021" y="882251"/>
                    <a:pt x="2173141" y="882251"/>
                  </a:cubicBezTo>
                  <a:lnTo>
                    <a:pt x="35997" y="882251"/>
                  </a:lnTo>
                  <a:cubicBezTo>
                    <a:pt x="16116" y="882251"/>
                    <a:pt x="0" y="866135"/>
                    <a:pt x="0" y="846254"/>
                  </a:cubicBezTo>
                  <a:lnTo>
                    <a:pt x="0" y="35997"/>
                  </a:lnTo>
                  <a:cubicBezTo>
                    <a:pt x="0" y="16116"/>
                    <a:pt x="16116" y="0"/>
                    <a:pt x="35997" y="0"/>
                  </a:cubicBezTo>
                  <a:close/>
                </a:path>
              </a:pathLst>
            </a:custGeom>
            <a:solidFill>
              <a:srgbClr val="140F0D"/>
            </a:solidFill>
          </p:spPr>
          <p:txBody>
            <a:bodyPr/>
            <a:lstStyle/>
            <a:p>
              <a:endParaRPr lang="en-US"/>
            </a:p>
          </p:txBody>
        </p:sp>
        <p:sp>
          <p:nvSpPr>
            <p:cNvPr id="7" name="TextBox 7"/>
            <p:cNvSpPr txBox="1"/>
            <p:nvPr/>
          </p:nvSpPr>
          <p:spPr>
            <a:xfrm>
              <a:off x="0" y="-38100"/>
              <a:ext cx="2209137" cy="920351"/>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338547" y="4356404"/>
            <a:ext cx="14086134" cy="5699123"/>
          </a:xfrm>
          <a:prstGeom prst="rect">
            <a:avLst/>
          </a:prstGeom>
        </p:spPr>
        <p:txBody>
          <a:bodyPr lIns="0" tIns="0" rIns="0" bIns="0" rtlCol="0" anchor="t">
            <a:spAutoFit/>
          </a:bodyPr>
          <a:lstStyle/>
          <a:p>
            <a:pPr algn="l">
              <a:lnSpc>
                <a:spcPts val="3500"/>
              </a:lnSpc>
            </a:pPr>
            <a:r>
              <a:rPr lang="en-US" sz="2500">
                <a:solidFill>
                  <a:srgbClr val="E8DEC8"/>
                </a:solidFill>
                <a:latin typeface="Trebuchet MS"/>
              </a:rPr>
              <a:t>The primary objectives of sports analytics are twofold. First, it streamlines the decision-making process by centralizing all relevant information for evaluating players, teams, or prospects. By offering a single, integrated platform, it frees decision-makers from the time-consuming task of gathering data from disparate sources, allowing them to focus on analysis.</a:t>
            </a:r>
          </a:p>
          <a:p>
            <a:pPr algn="l">
              <a:lnSpc>
                <a:spcPts val="3500"/>
              </a:lnSpc>
            </a:pPr>
            <a:endParaRPr lang="en-US" sz="2500">
              <a:solidFill>
                <a:srgbClr val="E8DEC8"/>
              </a:solidFill>
              <a:latin typeface="Trebuchet MS"/>
            </a:endParaRPr>
          </a:p>
          <a:p>
            <a:pPr algn="l">
              <a:lnSpc>
                <a:spcPts val="3500"/>
              </a:lnSpc>
            </a:pPr>
            <a:r>
              <a:rPr lang="en-US" sz="2500">
                <a:solidFill>
                  <a:srgbClr val="E8DEC8"/>
                </a:solidFill>
                <a:latin typeface="Trebuchet MS"/>
              </a:rPr>
              <a:t>The second aim is to deliver unique insights to decision-makers. With the growing volume and complexity of available data, extracting valuable information becomes increasingly challenging. Sports analytics models help distill this data into actionable intelligence, offering perspectives that would be unattainable without advanced analysis. This approach enables a more informed decision-making process, often blending statistical forecasts with expert opinions for a comprehensive understanding of a player’s potential.</a:t>
            </a:r>
          </a:p>
          <a:p>
            <a:pPr algn="l">
              <a:lnSpc>
                <a:spcPts val="3500"/>
              </a:lnSpc>
            </a:pPr>
            <a:endParaRPr lang="en-US" sz="2500">
              <a:solidFill>
                <a:srgbClr val="E8DEC8"/>
              </a:solidFill>
              <a:latin typeface="Trebuchet MS"/>
            </a:endParaRPr>
          </a:p>
          <a:p>
            <a:pPr marL="0" lvl="0" indent="0" algn="ctr">
              <a:lnSpc>
                <a:spcPts val="3500"/>
              </a:lnSpc>
            </a:pPr>
            <a:endParaRPr lang="en-US" sz="2500">
              <a:solidFill>
                <a:srgbClr val="E8DEC8"/>
              </a:solidFill>
              <a:latin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480225" y="-8302241"/>
            <a:ext cx="3327549" cy="19062697"/>
            <a:chOff x="0" y="0"/>
            <a:chExt cx="876392" cy="5020628"/>
          </a:xfrm>
        </p:grpSpPr>
        <p:sp>
          <p:nvSpPr>
            <p:cNvPr id="3" name="Freeform 3"/>
            <p:cNvSpPr/>
            <p:nvPr/>
          </p:nvSpPr>
          <p:spPr>
            <a:xfrm>
              <a:off x="0" y="0"/>
              <a:ext cx="876392" cy="5020628"/>
            </a:xfrm>
            <a:custGeom>
              <a:avLst/>
              <a:gdLst/>
              <a:ahLst/>
              <a:cxnLst/>
              <a:rect l="l" t="t" r="r" b="b"/>
              <a:pathLst>
                <a:path w="876392" h="5020628">
                  <a:moveTo>
                    <a:pt x="0" y="0"/>
                  </a:moveTo>
                  <a:lnTo>
                    <a:pt x="876392" y="0"/>
                  </a:lnTo>
                  <a:lnTo>
                    <a:pt x="876392" y="5020628"/>
                  </a:lnTo>
                  <a:lnTo>
                    <a:pt x="0" y="5020628"/>
                  </a:lnTo>
                  <a:close/>
                </a:path>
              </a:pathLst>
            </a:custGeom>
            <a:solidFill>
              <a:srgbClr val="000000"/>
            </a:solidFill>
          </p:spPr>
          <p:txBody>
            <a:bodyPr/>
            <a:lstStyle/>
            <a:p>
              <a:endParaRPr lang="en-US"/>
            </a:p>
          </p:txBody>
        </p:sp>
        <p:sp>
          <p:nvSpPr>
            <p:cNvPr id="4" name="TextBox 4"/>
            <p:cNvSpPr txBox="1"/>
            <p:nvPr/>
          </p:nvSpPr>
          <p:spPr>
            <a:xfrm>
              <a:off x="0" y="-38100"/>
              <a:ext cx="876392" cy="505872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980209" y="3441871"/>
            <a:ext cx="6317850" cy="8068899"/>
            <a:chOff x="0" y="0"/>
            <a:chExt cx="2184921" cy="2790491"/>
          </a:xfrm>
        </p:grpSpPr>
        <p:sp>
          <p:nvSpPr>
            <p:cNvPr id="6" name="Freeform 6"/>
            <p:cNvSpPr/>
            <p:nvPr/>
          </p:nvSpPr>
          <p:spPr>
            <a:xfrm>
              <a:off x="0" y="0"/>
              <a:ext cx="2184921" cy="2790491"/>
            </a:xfrm>
            <a:custGeom>
              <a:avLst/>
              <a:gdLst/>
              <a:ahLst/>
              <a:cxnLst/>
              <a:rect l="l" t="t" r="r" b="b"/>
              <a:pathLst>
                <a:path w="2184921" h="2790491">
                  <a:moveTo>
                    <a:pt x="51467" y="0"/>
                  </a:moveTo>
                  <a:lnTo>
                    <a:pt x="2133454" y="0"/>
                  </a:lnTo>
                  <a:cubicBezTo>
                    <a:pt x="2147104" y="0"/>
                    <a:pt x="2160195" y="5422"/>
                    <a:pt x="2169847" y="15074"/>
                  </a:cubicBezTo>
                  <a:cubicBezTo>
                    <a:pt x="2179499" y="24726"/>
                    <a:pt x="2184921" y="37817"/>
                    <a:pt x="2184921" y="51467"/>
                  </a:cubicBezTo>
                  <a:lnTo>
                    <a:pt x="2184921" y="2739024"/>
                  </a:lnTo>
                  <a:cubicBezTo>
                    <a:pt x="2184921" y="2767449"/>
                    <a:pt x="2161878" y="2790491"/>
                    <a:pt x="2133454" y="2790491"/>
                  </a:cubicBezTo>
                  <a:lnTo>
                    <a:pt x="51467" y="2790491"/>
                  </a:lnTo>
                  <a:cubicBezTo>
                    <a:pt x="23043" y="2790491"/>
                    <a:pt x="0" y="2767449"/>
                    <a:pt x="0" y="2739024"/>
                  </a:cubicBezTo>
                  <a:lnTo>
                    <a:pt x="0" y="51467"/>
                  </a:lnTo>
                  <a:cubicBezTo>
                    <a:pt x="0" y="23043"/>
                    <a:pt x="23043" y="0"/>
                    <a:pt x="51467" y="0"/>
                  </a:cubicBezTo>
                  <a:close/>
                </a:path>
              </a:pathLst>
            </a:custGeom>
            <a:solidFill>
              <a:srgbClr val="A82447"/>
            </a:solidFill>
          </p:spPr>
          <p:txBody>
            <a:bodyPr/>
            <a:lstStyle/>
            <a:p>
              <a:endParaRPr lang="en-US"/>
            </a:p>
          </p:txBody>
        </p:sp>
        <p:sp>
          <p:nvSpPr>
            <p:cNvPr id="7" name="TextBox 7"/>
            <p:cNvSpPr txBox="1"/>
            <p:nvPr/>
          </p:nvSpPr>
          <p:spPr>
            <a:xfrm>
              <a:off x="0" y="-38100"/>
              <a:ext cx="2184921" cy="2828591"/>
            </a:xfrm>
            <a:prstGeom prst="rect">
              <a:avLst/>
            </a:prstGeom>
          </p:spPr>
          <p:txBody>
            <a:bodyPr lIns="22961" tIns="22961" rIns="22961" bIns="22961" rtlCol="0" anchor="ctr"/>
            <a:lstStyle/>
            <a:p>
              <a:pPr algn="ctr">
                <a:lnSpc>
                  <a:spcPts val="2660"/>
                </a:lnSpc>
              </a:pPr>
              <a:endParaRPr/>
            </a:p>
          </p:txBody>
        </p:sp>
      </p:grpSp>
      <p:sp>
        <p:nvSpPr>
          <p:cNvPr id="8" name="Freeform 8"/>
          <p:cNvSpPr/>
          <p:nvPr/>
        </p:nvSpPr>
        <p:spPr>
          <a:xfrm>
            <a:off x="-387349" y="-7937393"/>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9" name="Freeform 9"/>
          <p:cNvSpPr/>
          <p:nvPr/>
        </p:nvSpPr>
        <p:spPr>
          <a:xfrm>
            <a:off x="10382162" y="-7937393"/>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10" name="Freeform 10"/>
          <p:cNvSpPr/>
          <p:nvPr/>
        </p:nvSpPr>
        <p:spPr>
          <a:xfrm>
            <a:off x="11336431" y="3902861"/>
            <a:ext cx="5719804" cy="5965897"/>
          </a:xfrm>
          <a:custGeom>
            <a:avLst/>
            <a:gdLst/>
            <a:ahLst/>
            <a:cxnLst/>
            <a:rect l="l" t="t" r="r" b="b"/>
            <a:pathLst>
              <a:path w="5719804" h="5965897">
                <a:moveTo>
                  <a:pt x="0" y="0"/>
                </a:moveTo>
                <a:lnTo>
                  <a:pt x="5719804" y="0"/>
                </a:lnTo>
                <a:lnTo>
                  <a:pt x="5719804" y="5965897"/>
                </a:lnTo>
                <a:lnTo>
                  <a:pt x="0" y="5965897"/>
                </a:lnTo>
                <a:lnTo>
                  <a:pt x="0" y="0"/>
                </a:lnTo>
                <a:close/>
              </a:path>
            </a:pathLst>
          </a:custGeom>
          <a:blipFill>
            <a:blip r:embed="rId3"/>
            <a:stretch>
              <a:fillRect/>
            </a:stretch>
          </a:blipFill>
        </p:spPr>
        <p:txBody>
          <a:bodyPr/>
          <a:lstStyle/>
          <a:p>
            <a:endParaRPr lang="en-US"/>
          </a:p>
        </p:txBody>
      </p:sp>
      <p:sp>
        <p:nvSpPr>
          <p:cNvPr id="11" name="TextBox 11"/>
          <p:cNvSpPr txBox="1"/>
          <p:nvPr/>
        </p:nvSpPr>
        <p:spPr>
          <a:xfrm>
            <a:off x="961320" y="180626"/>
            <a:ext cx="16365361" cy="2903747"/>
          </a:xfrm>
          <a:prstGeom prst="rect">
            <a:avLst/>
          </a:prstGeom>
        </p:spPr>
        <p:txBody>
          <a:bodyPr lIns="0" tIns="0" rIns="0" bIns="0" rtlCol="0" anchor="t">
            <a:spAutoFit/>
          </a:bodyPr>
          <a:lstStyle/>
          <a:p>
            <a:pPr algn="ctr">
              <a:lnSpc>
                <a:spcPts val="11275"/>
              </a:lnSpc>
            </a:pPr>
            <a:r>
              <a:rPr lang="en-US" sz="10636">
                <a:solidFill>
                  <a:srgbClr val="FFFFFF"/>
                </a:solidFill>
                <a:latin typeface="Yearbook Solid"/>
              </a:rPr>
              <a:t>Why Is Sports Analytics Important</a:t>
            </a:r>
          </a:p>
        </p:txBody>
      </p:sp>
      <p:sp>
        <p:nvSpPr>
          <p:cNvPr id="12" name="TextBox 12"/>
          <p:cNvSpPr txBox="1"/>
          <p:nvPr/>
        </p:nvSpPr>
        <p:spPr>
          <a:xfrm>
            <a:off x="1028700" y="4846164"/>
            <a:ext cx="8115300" cy="3583210"/>
          </a:xfrm>
          <a:prstGeom prst="rect">
            <a:avLst/>
          </a:prstGeom>
        </p:spPr>
        <p:txBody>
          <a:bodyPr lIns="0" tIns="0" rIns="0" bIns="0" rtlCol="0" anchor="t">
            <a:spAutoFit/>
          </a:bodyPr>
          <a:lstStyle/>
          <a:p>
            <a:pPr algn="l">
              <a:lnSpc>
                <a:spcPts val="3575"/>
              </a:lnSpc>
            </a:pPr>
            <a:r>
              <a:rPr lang="en-US" sz="2553">
                <a:solidFill>
                  <a:srgbClr val="2B2125"/>
                </a:solidFill>
                <a:latin typeface="Trebuchet MS"/>
              </a:rPr>
              <a:t>Sports analytics has become an indispensable tool in both the competitive and business aspects of the sports industry. On the field, coaches and managers are leveraging data analytics to inform their decisions, from game strategies to player evaluations and training regimens. Not tapping into this data-driven approach can put teams at a competitive disadvantage.</a:t>
            </a:r>
          </a:p>
          <a:p>
            <a:pPr algn="l">
              <a:lnSpc>
                <a:spcPts val="3575"/>
              </a:lnSpc>
            </a:pPr>
            <a:endParaRPr lang="en-US" sz="2553">
              <a:solidFill>
                <a:srgbClr val="2B2125"/>
              </a:solidFill>
              <a:latin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480225" y="-8302241"/>
            <a:ext cx="3327549" cy="19062697"/>
            <a:chOff x="0" y="0"/>
            <a:chExt cx="876392" cy="5020628"/>
          </a:xfrm>
        </p:grpSpPr>
        <p:sp>
          <p:nvSpPr>
            <p:cNvPr id="3" name="Freeform 3"/>
            <p:cNvSpPr/>
            <p:nvPr/>
          </p:nvSpPr>
          <p:spPr>
            <a:xfrm>
              <a:off x="0" y="0"/>
              <a:ext cx="876392" cy="5020628"/>
            </a:xfrm>
            <a:custGeom>
              <a:avLst/>
              <a:gdLst/>
              <a:ahLst/>
              <a:cxnLst/>
              <a:rect l="l" t="t" r="r" b="b"/>
              <a:pathLst>
                <a:path w="876392" h="5020628">
                  <a:moveTo>
                    <a:pt x="0" y="0"/>
                  </a:moveTo>
                  <a:lnTo>
                    <a:pt x="876392" y="0"/>
                  </a:lnTo>
                  <a:lnTo>
                    <a:pt x="876392" y="5020628"/>
                  </a:lnTo>
                  <a:lnTo>
                    <a:pt x="0" y="5020628"/>
                  </a:lnTo>
                  <a:close/>
                </a:path>
              </a:pathLst>
            </a:custGeom>
            <a:solidFill>
              <a:srgbClr val="000000"/>
            </a:solidFill>
          </p:spPr>
          <p:txBody>
            <a:bodyPr/>
            <a:lstStyle/>
            <a:p>
              <a:endParaRPr lang="en-US"/>
            </a:p>
          </p:txBody>
        </p:sp>
        <p:sp>
          <p:nvSpPr>
            <p:cNvPr id="4" name="TextBox 4"/>
            <p:cNvSpPr txBox="1"/>
            <p:nvPr/>
          </p:nvSpPr>
          <p:spPr>
            <a:xfrm>
              <a:off x="0" y="-38100"/>
              <a:ext cx="876392" cy="505872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980209" y="3441871"/>
            <a:ext cx="6317850" cy="8068899"/>
            <a:chOff x="0" y="0"/>
            <a:chExt cx="2184921" cy="2790491"/>
          </a:xfrm>
        </p:grpSpPr>
        <p:sp>
          <p:nvSpPr>
            <p:cNvPr id="6" name="Freeform 6"/>
            <p:cNvSpPr/>
            <p:nvPr/>
          </p:nvSpPr>
          <p:spPr>
            <a:xfrm>
              <a:off x="0" y="0"/>
              <a:ext cx="2184921" cy="2790491"/>
            </a:xfrm>
            <a:custGeom>
              <a:avLst/>
              <a:gdLst/>
              <a:ahLst/>
              <a:cxnLst/>
              <a:rect l="l" t="t" r="r" b="b"/>
              <a:pathLst>
                <a:path w="2184921" h="2790491">
                  <a:moveTo>
                    <a:pt x="51467" y="0"/>
                  </a:moveTo>
                  <a:lnTo>
                    <a:pt x="2133454" y="0"/>
                  </a:lnTo>
                  <a:cubicBezTo>
                    <a:pt x="2147104" y="0"/>
                    <a:pt x="2160195" y="5422"/>
                    <a:pt x="2169847" y="15074"/>
                  </a:cubicBezTo>
                  <a:cubicBezTo>
                    <a:pt x="2179499" y="24726"/>
                    <a:pt x="2184921" y="37817"/>
                    <a:pt x="2184921" y="51467"/>
                  </a:cubicBezTo>
                  <a:lnTo>
                    <a:pt x="2184921" y="2739024"/>
                  </a:lnTo>
                  <a:cubicBezTo>
                    <a:pt x="2184921" y="2767449"/>
                    <a:pt x="2161878" y="2790491"/>
                    <a:pt x="2133454" y="2790491"/>
                  </a:cubicBezTo>
                  <a:lnTo>
                    <a:pt x="51467" y="2790491"/>
                  </a:lnTo>
                  <a:cubicBezTo>
                    <a:pt x="23043" y="2790491"/>
                    <a:pt x="0" y="2767449"/>
                    <a:pt x="0" y="2739024"/>
                  </a:cubicBezTo>
                  <a:lnTo>
                    <a:pt x="0" y="51467"/>
                  </a:lnTo>
                  <a:cubicBezTo>
                    <a:pt x="0" y="23043"/>
                    <a:pt x="23043" y="0"/>
                    <a:pt x="51467" y="0"/>
                  </a:cubicBezTo>
                  <a:close/>
                </a:path>
              </a:pathLst>
            </a:custGeom>
            <a:solidFill>
              <a:srgbClr val="A82447"/>
            </a:solidFill>
          </p:spPr>
          <p:txBody>
            <a:bodyPr/>
            <a:lstStyle/>
            <a:p>
              <a:endParaRPr lang="en-US"/>
            </a:p>
          </p:txBody>
        </p:sp>
        <p:sp>
          <p:nvSpPr>
            <p:cNvPr id="7" name="TextBox 7"/>
            <p:cNvSpPr txBox="1"/>
            <p:nvPr/>
          </p:nvSpPr>
          <p:spPr>
            <a:xfrm>
              <a:off x="0" y="-38100"/>
              <a:ext cx="2184921" cy="2828591"/>
            </a:xfrm>
            <a:prstGeom prst="rect">
              <a:avLst/>
            </a:prstGeom>
          </p:spPr>
          <p:txBody>
            <a:bodyPr lIns="22961" tIns="22961" rIns="22961" bIns="22961" rtlCol="0" anchor="ctr"/>
            <a:lstStyle/>
            <a:p>
              <a:pPr algn="ctr">
                <a:lnSpc>
                  <a:spcPts val="2660"/>
                </a:lnSpc>
              </a:pPr>
              <a:endParaRPr/>
            </a:p>
          </p:txBody>
        </p:sp>
      </p:grpSp>
      <p:sp>
        <p:nvSpPr>
          <p:cNvPr id="8" name="Freeform 8"/>
          <p:cNvSpPr/>
          <p:nvPr/>
        </p:nvSpPr>
        <p:spPr>
          <a:xfrm>
            <a:off x="-387349" y="-7937393"/>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9" name="Freeform 9"/>
          <p:cNvSpPr/>
          <p:nvPr/>
        </p:nvSpPr>
        <p:spPr>
          <a:xfrm>
            <a:off x="10382162" y="-7937393"/>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10" name="Freeform 10"/>
          <p:cNvSpPr/>
          <p:nvPr/>
        </p:nvSpPr>
        <p:spPr>
          <a:xfrm>
            <a:off x="11336431" y="3902861"/>
            <a:ext cx="5719804" cy="5965897"/>
          </a:xfrm>
          <a:custGeom>
            <a:avLst/>
            <a:gdLst/>
            <a:ahLst/>
            <a:cxnLst/>
            <a:rect l="l" t="t" r="r" b="b"/>
            <a:pathLst>
              <a:path w="5719804" h="5965897">
                <a:moveTo>
                  <a:pt x="0" y="0"/>
                </a:moveTo>
                <a:lnTo>
                  <a:pt x="5719804" y="0"/>
                </a:lnTo>
                <a:lnTo>
                  <a:pt x="5719804" y="5965897"/>
                </a:lnTo>
                <a:lnTo>
                  <a:pt x="0" y="5965897"/>
                </a:lnTo>
                <a:lnTo>
                  <a:pt x="0" y="0"/>
                </a:lnTo>
                <a:close/>
              </a:path>
            </a:pathLst>
          </a:custGeom>
          <a:blipFill>
            <a:blip r:embed="rId3"/>
            <a:stretch>
              <a:fillRect/>
            </a:stretch>
          </a:blipFill>
        </p:spPr>
        <p:txBody>
          <a:bodyPr/>
          <a:lstStyle/>
          <a:p>
            <a:endParaRPr lang="en-US"/>
          </a:p>
        </p:txBody>
      </p:sp>
      <p:sp>
        <p:nvSpPr>
          <p:cNvPr id="11" name="TextBox 11"/>
          <p:cNvSpPr txBox="1"/>
          <p:nvPr/>
        </p:nvSpPr>
        <p:spPr>
          <a:xfrm>
            <a:off x="961320" y="180626"/>
            <a:ext cx="16365361" cy="2903747"/>
          </a:xfrm>
          <a:prstGeom prst="rect">
            <a:avLst/>
          </a:prstGeom>
        </p:spPr>
        <p:txBody>
          <a:bodyPr lIns="0" tIns="0" rIns="0" bIns="0" rtlCol="0" anchor="t">
            <a:spAutoFit/>
          </a:bodyPr>
          <a:lstStyle/>
          <a:p>
            <a:pPr algn="ctr">
              <a:lnSpc>
                <a:spcPts val="11275"/>
              </a:lnSpc>
            </a:pPr>
            <a:r>
              <a:rPr lang="en-US" sz="10636">
                <a:solidFill>
                  <a:srgbClr val="FFFFFF"/>
                </a:solidFill>
                <a:latin typeface="Yearbook Solid"/>
              </a:rPr>
              <a:t>Why Is Sports Analytics Important</a:t>
            </a:r>
          </a:p>
        </p:txBody>
      </p:sp>
      <p:sp>
        <p:nvSpPr>
          <p:cNvPr id="12" name="TextBox 12"/>
          <p:cNvSpPr txBox="1"/>
          <p:nvPr/>
        </p:nvSpPr>
        <p:spPr>
          <a:xfrm>
            <a:off x="553127" y="3867797"/>
            <a:ext cx="10101095" cy="6000960"/>
          </a:xfrm>
          <a:prstGeom prst="rect">
            <a:avLst/>
          </a:prstGeom>
        </p:spPr>
        <p:txBody>
          <a:bodyPr lIns="0" tIns="0" rIns="0" bIns="0" rtlCol="0" anchor="t">
            <a:spAutoFit/>
          </a:bodyPr>
          <a:lstStyle/>
          <a:p>
            <a:pPr algn="l">
              <a:lnSpc>
                <a:spcPts val="3692"/>
              </a:lnSpc>
            </a:pPr>
            <a:r>
              <a:rPr lang="en-US" sz="2637">
                <a:solidFill>
                  <a:srgbClr val="2B2125"/>
                </a:solidFill>
                <a:latin typeface="Trebuchet MS"/>
              </a:rPr>
              <a:t>Similarly, on the business side, teams are fighting for fan engagement in an increasingly crowded marketplace filled with numerous entertainment options. Analytics provides valuable insights that help teams optimize financial management and fan engagement. One example is the Boston Red Sox’s use of data to strategically place concession and memorabilia stands, enhancing fan experience and positively impacting revenue.</a:t>
            </a:r>
          </a:p>
          <a:p>
            <a:pPr algn="l">
              <a:lnSpc>
                <a:spcPts val="3692"/>
              </a:lnSpc>
            </a:pPr>
            <a:r>
              <a:rPr lang="en-US" sz="2637">
                <a:solidFill>
                  <a:srgbClr val="2B2125"/>
                </a:solidFill>
                <a:latin typeface="Trebuchet MS"/>
              </a:rPr>
              <a:t>While building data infrastructure or coding machine learning algorithms may not be required for every sports professional, a basic understanding of the capabilities of analytics is essential. It empowers decision-makers to utilize this potent tool for a competitive edge, whether in play or in business.</a:t>
            </a:r>
          </a:p>
          <a:p>
            <a:pPr algn="l">
              <a:lnSpc>
                <a:spcPts val="3692"/>
              </a:lnSpc>
            </a:pPr>
            <a:endParaRPr lang="en-US" sz="2637">
              <a:solidFill>
                <a:srgbClr val="2B2125"/>
              </a:solidFill>
              <a:latin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grpSp>
        <p:nvGrpSpPr>
          <p:cNvPr id="2" name="Group 2"/>
          <p:cNvGrpSpPr/>
          <p:nvPr/>
        </p:nvGrpSpPr>
        <p:grpSpPr>
          <a:xfrm>
            <a:off x="9631217" y="-248565"/>
            <a:ext cx="10759770" cy="10784131"/>
            <a:chOff x="0" y="0"/>
            <a:chExt cx="2833849" cy="2840265"/>
          </a:xfrm>
        </p:grpSpPr>
        <p:sp>
          <p:nvSpPr>
            <p:cNvPr id="3" name="Freeform 3"/>
            <p:cNvSpPr/>
            <p:nvPr/>
          </p:nvSpPr>
          <p:spPr>
            <a:xfrm>
              <a:off x="0" y="0"/>
              <a:ext cx="2833849" cy="2840265"/>
            </a:xfrm>
            <a:custGeom>
              <a:avLst/>
              <a:gdLst/>
              <a:ahLst/>
              <a:cxnLst/>
              <a:rect l="l" t="t" r="r" b="b"/>
              <a:pathLst>
                <a:path w="2833849" h="2840265">
                  <a:moveTo>
                    <a:pt x="0" y="0"/>
                  </a:moveTo>
                  <a:lnTo>
                    <a:pt x="2833849" y="0"/>
                  </a:lnTo>
                  <a:lnTo>
                    <a:pt x="2833849" y="2840265"/>
                  </a:lnTo>
                  <a:lnTo>
                    <a:pt x="0" y="2840265"/>
                  </a:lnTo>
                  <a:close/>
                </a:path>
              </a:pathLst>
            </a:custGeom>
            <a:solidFill>
              <a:srgbClr val="140F0D"/>
            </a:solidFill>
          </p:spPr>
          <p:txBody>
            <a:bodyPr/>
            <a:lstStyle/>
            <a:p>
              <a:endParaRPr lang="en-US"/>
            </a:p>
          </p:txBody>
        </p:sp>
        <p:sp>
          <p:nvSpPr>
            <p:cNvPr id="4" name="TextBox 4"/>
            <p:cNvSpPr txBox="1"/>
            <p:nvPr/>
          </p:nvSpPr>
          <p:spPr>
            <a:xfrm>
              <a:off x="0" y="-38100"/>
              <a:ext cx="2833849" cy="2878365"/>
            </a:xfrm>
            <a:prstGeom prst="rect">
              <a:avLst/>
            </a:prstGeom>
          </p:spPr>
          <p:txBody>
            <a:bodyPr lIns="50800" tIns="50800" rIns="50800" bIns="50800" rtlCol="0" anchor="ctr"/>
            <a:lstStyle/>
            <a:p>
              <a:pPr algn="ctr">
                <a:lnSpc>
                  <a:spcPts val="3376"/>
                </a:lnSpc>
              </a:pPr>
              <a:endParaRPr/>
            </a:p>
          </p:txBody>
        </p:sp>
      </p:grpSp>
      <p:sp>
        <p:nvSpPr>
          <p:cNvPr id="5" name="Freeform 5"/>
          <p:cNvSpPr/>
          <p:nvPr/>
        </p:nvSpPr>
        <p:spPr>
          <a:xfrm>
            <a:off x="9631217" y="-248565"/>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2">
              <a:alphaModFix amt="42000"/>
            </a:blip>
            <a:stretch>
              <a:fillRect/>
            </a:stretch>
          </a:blipFill>
        </p:spPr>
        <p:txBody>
          <a:bodyPr/>
          <a:lstStyle/>
          <a:p>
            <a:endParaRPr lang="en-US"/>
          </a:p>
        </p:txBody>
      </p:sp>
      <p:grpSp>
        <p:nvGrpSpPr>
          <p:cNvPr id="6" name="Group 6"/>
          <p:cNvGrpSpPr/>
          <p:nvPr/>
        </p:nvGrpSpPr>
        <p:grpSpPr>
          <a:xfrm>
            <a:off x="10118907" y="1570662"/>
            <a:ext cx="9283359" cy="7145676"/>
            <a:chOff x="0" y="0"/>
            <a:chExt cx="4814459" cy="3705831"/>
          </a:xfrm>
        </p:grpSpPr>
        <p:sp>
          <p:nvSpPr>
            <p:cNvPr id="7" name="Freeform 7"/>
            <p:cNvSpPr/>
            <p:nvPr/>
          </p:nvSpPr>
          <p:spPr>
            <a:xfrm>
              <a:off x="0" y="0"/>
              <a:ext cx="4814458" cy="3705831"/>
            </a:xfrm>
            <a:custGeom>
              <a:avLst/>
              <a:gdLst/>
              <a:ahLst/>
              <a:cxnLst/>
              <a:rect l="l" t="t" r="r" b="b"/>
              <a:pathLst>
                <a:path w="4814458" h="3705831">
                  <a:moveTo>
                    <a:pt x="25853" y="0"/>
                  </a:moveTo>
                  <a:lnTo>
                    <a:pt x="4788606" y="0"/>
                  </a:lnTo>
                  <a:cubicBezTo>
                    <a:pt x="4795462" y="0"/>
                    <a:pt x="4802038" y="2724"/>
                    <a:pt x="4806886" y="7572"/>
                  </a:cubicBezTo>
                  <a:cubicBezTo>
                    <a:pt x="4811735" y="12420"/>
                    <a:pt x="4814458" y="18996"/>
                    <a:pt x="4814458" y="25853"/>
                  </a:cubicBezTo>
                  <a:lnTo>
                    <a:pt x="4814458" y="3679978"/>
                  </a:lnTo>
                  <a:cubicBezTo>
                    <a:pt x="4814458" y="3694256"/>
                    <a:pt x="4802884" y="3705831"/>
                    <a:pt x="4788606" y="3705831"/>
                  </a:cubicBezTo>
                  <a:lnTo>
                    <a:pt x="25853" y="3705831"/>
                  </a:lnTo>
                  <a:cubicBezTo>
                    <a:pt x="18996" y="3705831"/>
                    <a:pt x="12420" y="3703107"/>
                    <a:pt x="7572" y="3698259"/>
                  </a:cubicBezTo>
                  <a:cubicBezTo>
                    <a:pt x="2724" y="3693410"/>
                    <a:pt x="0" y="3686835"/>
                    <a:pt x="0" y="3679978"/>
                  </a:cubicBezTo>
                  <a:lnTo>
                    <a:pt x="0" y="25853"/>
                  </a:lnTo>
                  <a:cubicBezTo>
                    <a:pt x="0" y="18996"/>
                    <a:pt x="2724" y="12420"/>
                    <a:pt x="7572" y="7572"/>
                  </a:cubicBezTo>
                  <a:cubicBezTo>
                    <a:pt x="12420" y="2724"/>
                    <a:pt x="18996" y="0"/>
                    <a:pt x="25853" y="0"/>
                  </a:cubicBezTo>
                  <a:close/>
                </a:path>
              </a:pathLst>
            </a:custGeom>
            <a:solidFill>
              <a:srgbClr val="443096"/>
            </a:solidFill>
          </p:spPr>
          <p:txBody>
            <a:bodyPr/>
            <a:lstStyle/>
            <a:p>
              <a:endParaRPr lang="en-US"/>
            </a:p>
          </p:txBody>
        </p:sp>
        <p:sp>
          <p:nvSpPr>
            <p:cNvPr id="8" name="TextBox 8"/>
            <p:cNvSpPr txBox="1"/>
            <p:nvPr/>
          </p:nvSpPr>
          <p:spPr>
            <a:xfrm>
              <a:off x="0" y="-38100"/>
              <a:ext cx="4814459" cy="3743931"/>
            </a:xfrm>
            <a:prstGeom prst="rect">
              <a:avLst/>
            </a:prstGeom>
          </p:spPr>
          <p:txBody>
            <a:bodyPr lIns="30648" tIns="30648" rIns="30648" bIns="30648" rtlCol="0" anchor="ctr"/>
            <a:lstStyle/>
            <a:p>
              <a:pPr algn="ctr">
                <a:lnSpc>
                  <a:spcPts val="2659"/>
                </a:lnSpc>
              </a:pPr>
              <a:endParaRPr/>
            </a:p>
          </p:txBody>
        </p:sp>
      </p:grpSp>
      <p:sp>
        <p:nvSpPr>
          <p:cNvPr id="9" name="Freeform 9"/>
          <p:cNvSpPr/>
          <p:nvPr/>
        </p:nvSpPr>
        <p:spPr>
          <a:xfrm>
            <a:off x="10929593" y="1746041"/>
            <a:ext cx="6540109" cy="6794919"/>
          </a:xfrm>
          <a:custGeom>
            <a:avLst/>
            <a:gdLst/>
            <a:ahLst/>
            <a:cxnLst/>
            <a:rect l="l" t="t" r="r" b="b"/>
            <a:pathLst>
              <a:path w="6540109" h="6794919">
                <a:moveTo>
                  <a:pt x="0" y="0"/>
                </a:moveTo>
                <a:lnTo>
                  <a:pt x="6540110" y="0"/>
                </a:lnTo>
                <a:lnTo>
                  <a:pt x="6540110" y="6794918"/>
                </a:lnTo>
                <a:lnTo>
                  <a:pt x="0" y="6794918"/>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9496" y="295760"/>
            <a:ext cx="8808125" cy="4046984"/>
          </a:xfrm>
          <a:prstGeom prst="rect">
            <a:avLst/>
          </a:prstGeom>
        </p:spPr>
        <p:txBody>
          <a:bodyPr lIns="0" tIns="0" rIns="0" bIns="0" rtlCol="0" anchor="t">
            <a:spAutoFit/>
          </a:bodyPr>
          <a:lstStyle/>
          <a:p>
            <a:pPr algn="ctr">
              <a:lnSpc>
                <a:spcPts val="7942"/>
              </a:lnSpc>
            </a:pPr>
            <a:r>
              <a:rPr lang="en-US" sz="7492">
                <a:solidFill>
                  <a:srgbClr val="000000"/>
                </a:solidFill>
                <a:latin typeface="Yearbook Outline"/>
              </a:rPr>
              <a:t>On-field Data Analytics and Off-field Data Analytics</a:t>
            </a:r>
          </a:p>
        </p:txBody>
      </p:sp>
      <p:grpSp>
        <p:nvGrpSpPr>
          <p:cNvPr id="11" name="Group 11"/>
          <p:cNvGrpSpPr/>
          <p:nvPr/>
        </p:nvGrpSpPr>
        <p:grpSpPr>
          <a:xfrm>
            <a:off x="615905" y="4518768"/>
            <a:ext cx="8677588" cy="5444330"/>
            <a:chOff x="0" y="0"/>
            <a:chExt cx="2285455" cy="1433898"/>
          </a:xfrm>
        </p:grpSpPr>
        <p:sp>
          <p:nvSpPr>
            <p:cNvPr id="12" name="Freeform 12"/>
            <p:cNvSpPr/>
            <p:nvPr/>
          </p:nvSpPr>
          <p:spPr>
            <a:xfrm>
              <a:off x="0" y="0"/>
              <a:ext cx="2285455" cy="1433898"/>
            </a:xfrm>
            <a:custGeom>
              <a:avLst/>
              <a:gdLst/>
              <a:ahLst/>
              <a:cxnLst/>
              <a:rect l="l" t="t" r="r" b="b"/>
              <a:pathLst>
                <a:path w="2285455" h="1433898">
                  <a:moveTo>
                    <a:pt x="34795" y="0"/>
                  </a:moveTo>
                  <a:lnTo>
                    <a:pt x="2250660" y="0"/>
                  </a:lnTo>
                  <a:cubicBezTo>
                    <a:pt x="2259889" y="0"/>
                    <a:pt x="2268739" y="3666"/>
                    <a:pt x="2275264" y="10191"/>
                  </a:cubicBezTo>
                  <a:cubicBezTo>
                    <a:pt x="2281789" y="16716"/>
                    <a:pt x="2285455" y="25567"/>
                    <a:pt x="2285455" y="34795"/>
                  </a:cubicBezTo>
                  <a:lnTo>
                    <a:pt x="2285455" y="1399103"/>
                  </a:lnTo>
                  <a:cubicBezTo>
                    <a:pt x="2285455" y="1408331"/>
                    <a:pt x="2281789" y="1417181"/>
                    <a:pt x="2275264" y="1423706"/>
                  </a:cubicBezTo>
                  <a:cubicBezTo>
                    <a:pt x="2268739" y="1430232"/>
                    <a:pt x="2259889" y="1433898"/>
                    <a:pt x="2250660" y="1433898"/>
                  </a:cubicBezTo>
                  <a:lnTo>
                    <a:pt x="34795" y="1433898"/>
                  </a:lnTo>
                  <a:cubicBezTo>
                    <a:pt x="25567" y="1433898"/>
                    <a:pt x="16716" y="1430232"/>
                    <a:pt x="10191" y="1423706"/>
                  </a:cubicBezTo>
                  <a:cubicBezTo>
                    <a:pt x="3666" y="1417181"/>
                    <a:pt x="0" y="1408331"/>
                    <a:pt x="0" y="1399103"/>
                  </a:cubicBezTo>
                  <a:lnTo>
                    <a:pt x="0" y="34795"/>
                  </a:lnTo>
                  <a:cubicBezTo>
                    <a:pt x="0" y="25567"/>
                    <a:pt x="3666" y="16716"/>
                    <a:pt x="10191" y="10191"/>
                  </a:cubicBezTo>
                  <a:cubicBezTo>
                    <a:pt x="16716" y="3666"/>
                    <a:pt x="25567" y="0"/>
                    <a:pt x="34795" y="0"/>
                  </a:cubicBezTo>
                  <a:close/>
                </a:path>
              </a:pathLst>
            </a:custGeom>
            <a:solidFill>
              <a:srgbClr val="140F0D"/>
            </a:solidFill>
          </p:spPr>
          <p:txBody>
            <a:bodyPr/>
            <a:lstStyle/>
            <a:p>
              <a:endParaRPr lang="en-US"/>
            </a:p>
          </p:txBody>
        </p:sp>
        <p:sp>
          <p:nvSpPr>
            <p:cNvPr id="13" name="TextBox 13"/>
            <p:cNvSpPr txBox="1"/>
            <p:nvPr/>
          </p:nvSpPr>
          <p:spPr>
            <a:xfrm>
              <a:off x="0" y="-38100"/>
              <a:ext cx="2285455" cy="1471998"/>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180405" y="4809293"/>
            <a:ext cx="7548589" cy="5477707"/>
          </a:xfrm>
          <a:prstGeom prst="rect">
            <a:avLst/>
          </a:prstGeom>
        </p:spPr>
        <p:txBody>
          <a:bodyPr lIns="0" tIns="0" rIns="0" bIns="0" rtlCol="0" anchor="t">
            <a:spAutoFit/>
          </a:bodyPr>
          <a:lstStyle/>
          <a:p>
            <a:pPr algn="ctr">
              <a:lnSpc>
                <a:spcPts val="3629"/>
              </a:lnSpc>
            </a:pPr>
            <a:r>
              <a:rPr lang="en-US" sz="2592">
                <a:solidFill>
                  <a:srgbClr val="FFFFFF"/>
                </a:solidFill>
                <a:latin typeface="Trebuchet MS"/>
              </a:rPr>
              <a:t>Sports analytics comprises a broad range of tools and methods used to capture, analyze, and interpret data for gaining competitive advantages. This realm of analysis can be divided into two main categories: On-field Data Analytics and Off-field Data Analytics. While both are critical for the success of any sports organization, they serve distinct functions, targets, and deliver specific types of actionable insights. Below, we explore these two critical aspects to offer a comprehensive understanding.</a:t>
            </a:r>
          </a:p>
          <a:p>
            <a:pPr marL="0" lvl="0" indent="0" algn="ctr">
              <a:lnSpc>
                <a:spcPts val="3629"/>
              </a:lnSpc>
              <a:spcBef>
                <a:spcPct val="0"/>
              </a:spcBef>
            </a:pPr>
            <a:endParaRPr lang="en-US" sz="2592">
              <a:solidFill>
                <a:srgbClr val="FFFFFF"/>
              </a:solidFill>
              <a:latin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480225" y="-8302241"/>
            <a:ext cx="3327549" cy="19062697"/>
            <a:chOff x="0" y="0"/>
            <a:chExt cx="876392" cy="5020628"/>
          </a:xfrm>
        </p:grpSpPr>
        <p:sp>
          <p:nvSpPr>
            <p:cNvPr id="3" name="Freeform 3"/>
            <p:cNvSpPr/>
            <p:nvPr/>
          </p:nvSpPr>
          <p:spPr>
            <a:xfrm>
              <a:off x="0" y="0"/>
              <a:ext cx="876392" cy="5020628"/>
            </a:xfrm>
            <a:custGeom>
              <a:avLst/>
              <a:gdLst/>
              <a:ahLst/>
              <a:cxnLst/>
              <a:rect l="l" t="t" r="r" b="b"/>
              <a:pathLst>
                <a:path w="876392" h="5020628">
                  <a:moveTo>
                    <a:pt x="0" y="0"/>
                  </a:moveTo>
                  <a:lnTo>
                    <a:pt x="876392" y="0"/>
                  </a:lnTo>
                  <a:lnTo>
                    <a:pt x="876392" y="5020628"/>
                  </a:lnTo>
                  <a:lnTo>
                    <a:pt x="0" y="5020628"/>
                  </a:lnTo>
                  <a:close/>
                </a:path>
              </a:pathLst>
            </a:custGeom>
            <a:solidFill>
              <a:srgbClr val="000000"/>
            </a:solidFill>
          </p:spPr>
          <p:txBody>
            <a:bodyPr/>
            <a:lstStyle/>
            <a:p>
              <a:endParaRPr lang="en-US"/>
            </a:p>
          </p:txBody>
        </p:sp>
        <p:sp>
          <p:nvSpPr>
            <p:cNvPr id="4" name="TextBox 4"/>
            <p:cNvSpPr txBox="1"/>
            <p:nvPr/>
          </p:nvSpPr>
          <p:spPr>
            <a:xfrm>
              <a:off x="0" y="-38100"/>
              <a:ext cx="876392" cy="505872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980209" y="3441871"/>
            <a:ext cx="6317850" cy="8068899"/>
            <a:chOff x="0" y="0"/>
            <a:chExt cx="2184921" cy="2790491"/>
          </a:xfrm>
        </p:grpSpPr>
        <p:sp>
          <p:nvSpPr>
            <p:cNvPr id="6" name="Freeform 6"/>
            <p:cNvSpPr/>
            <p:nvPr/>
          </p:nvSpPr>
          <p:spPr>
            <a:xfrm>
              <a:off x="0" y="0"/>
              <a:ext cx="2184921" cy="2790491"/>
            </a:xfrm>
            <a:custGeom>
              <a:avLst/>
              <a:gdLst/>
              <a:ahLst/>
              <a:cxnLst/>
              <a:rect l="l" t="t" r="r" b="b"/>
              <a:pathLst>
                <a:path w="2184921" h="2790491">
                  <a:moveTo>
                    <a:pt x="51467" y="0"/>
                  </a:moveTo>
                  <a:lnTo>
                    <a:pt x="2133454" y="0"/>
                  </a:lnTo>
                  <a:cubicBezTo>
                    <a:pt x="2147104" y="0"/>
                    <a:pt x="2160195" y="5422"/>
                    <a:pt x="2169847" y="15074"/>
                  </a:cubicBezTo>
                  <a:cubicBezTo>
                    <a:pt x="2179499" y="24726"/>
                    <a:pt x="2184921" y="37817"/>
                    <a:pt x="2184921" y="51467"/>
                  </a:cubicBezTo>
                  <a:lnTo>
                    <a:pt x="2184921" y="2739024"/>
                  </a:lnTo>
                  <a:cubicBezTo>
                    <a:pt x="2184921" y="2767449"/>
                    <a:pt x="2161878" y="2790491"/>
                    <a:pt x="2133454" y="2790491"/>
                  </a:cubicBezTo>
                  <a:lnTo>
                    <a:pt x="51467" y="2790491"/>
                  </a:lnTo>
                  <a:cubicBezTo>
                    <a:pt x="23043" y="2790491"/>
                    <a:pt x="0" y="2767449"/>
                    <a:pt x="0" y="2739024"/>
                  </a:cubicBezTo>
                  <a:lnTo>
                    <a:pt x="0" y="51467"/>
                  </a:lnTo>
                  <a:cubicBezTo>
                    <a:pt x="0" y="23043"/>
                    <a:pt x="23043" y="0"/>
                    <a:pt x="51467" y="0"/>
                  </a:cubicBezTo>
                  <a:close/>
                </a:path>
              </a:pathLst>
            </a:custGeom>
            <a:solidFill>
              <a:srgbClr val="DD9C47"/>
            </a:solidFill>
          </p:spPr>
          <p:txBody>
            <a:bodyPr/>
            <a:lstStyle/>
            <a:p>
              <a:endParaRPr lang="en-US"/>
            </a:p>
          </p:txBody>
        </p:sp>
        <p:sp>
          <p:nvSpPr>
            <p:cNvPr id="7" name="TextBox 7"/>
            <p:cNvSpPr txBox="1"/>
            <p:nvPr/>
          </p:nvSpPr>
          <p:spPr>
            <a:xfrm>
              <a:off x="0" y="-38100"/>
              <a:ext cx="2184921" cy="2828591"/>
            </a:xfrm>
            <a:prstGeom prst="rect">
              <a:avLst/>
            </a:prstGeom>
          </p:spPr>
          <p:txBody>
            <a:bodyPr lIns="22961" tIns="22961" rIns="22961" bIns="22961" rtlCol="0" anchor="ctr"/>
            <a:lstStyle/>
            <a:p>
              <a:pPr algn="ctr">
                <a:lnSpc>
                  <a:spcPts val="2660"/>
                </a:lnSpc>
              </a:pPr>
              <a:endParaRPr/>
            </a:p>
          </p:txBody>
        </p:sp>
      </p:grpSp>
      <p:sp>
        <p:nvSpPr>
          <p:cNvPr id="8" name="Freeform 8"/>
          <p:cNvSpPr/>
          <p:nvPr/>
        </p:nvSpPr>
        <p:spPr>
          <a:xfrm>
            <a:off x="11197655" y="3871967"/>
            <a:ext cx="5882959" cy="7817886"/>
          </a:xfrm>
          <a:custGeom>
            <a:avLst/>
            <a:gdLst/>
            <a:ahLst/>
            <a:cxnLst/>
            <a:rect l="l" t="t" r="r" b="b"/>
            <a:pathLst>
              <a:path w="5882959" h="7817886">
                <a:moveTo>
                  <a:pt x="0" y="0"/>
                </a:moveTo>
                <a:lnTo>
                  <a:pt x="5882959" y="0"/>
                </a:lnTo>
                <a:lnTo>
                  <a:pt x="5882959" y="7817886"/>
                </a:lnTo>
                <a:lnTo>
                  <a:pt x="0" y="7817886"/>
                </a:lnTo>
                <a:lnTo>
                  <a:pt x="0" y="0"/>
                </a:lnTo>
                <a:close/>
              </a:path>
            </a:pathLst>
          </a:custGeom>
          <a:blipFill>
            <a:blip r:embed="rId2"/>
            <a:stretch>
              <a:fillRect/>
            </a:stretch>
          </a:blipFill>
        </p:spPr>
        <p:txBody>
          <a:bodyPr/>
          <a:lstStyle/>
          <a:p>
            <a:endParaRPr lang="en-US"/>
          </a:p>
        </p:txBody>
      </p:sp>
      <p:sp>
        <p:nvSpPr>
          <p:cNvPr id="9" name="Freeform 9"/>
          <p:cNvSpPr/>
          <p:nvPr/>
        </p:nvSpPr>
        <p:spPr>
          <a:xfrm>
            <a:off x="-387349" y="-7937393"/>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3">
              <a:alphaModFix amt="42000"/>
            </a:blip>
            <a:stretch>
              <a:fillRect/>
            </a:stretch>
          </a:blipFill>
        </p:spPr>
        <p:txBody>
          <a:bodyPr/>
          <a:lstStyle/>
          <a:p>
            <a:endParaRPr lang="en-US"/>
          </a:p>
        </p:txBody>
      </p:sp>
      <p:sp>
        <p:nvSpPr>
          <p:cNvPr id="10" name="Freeform 10"/>
          <p:cNvSpPr/>
          <p:nvPr/>
        </p:nvSpPr>
        <p:spPr>
          <a:xfrm>
            <a:off x="10382162" y="-7937393"/>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3">
              <a:alphaModFix amt="42000"/>
            </a:blip>
            <a:stretch>
              <a:fillRect/>
            </a:stretch>
          </a:blipFill>
        </p:spPr>
        <p:txBody>
          <a:bodyPr/>
          <a:lstStyle/>
          <a:p>
            <a:endParaRPr lang="en-US"/>
          </a:p>
        </p:txBody>
      </p:sp>
      <p:sp>
        <p:nvSpPr>
          <p:cNvPr id="11" name="TextBox 11"/>
          <p:cNvSpPr txBox="1"/>
          <p:nvPr/>
        </p:nvSpPr>
        <p:spPr>
          <a:xfrm>
            <a:off x="303130" y="844230"/>
            <a:ext cx="17984870" cy="1474997"/>
          </a:xfrm>
          <a:prstGeom prst="rect">
            <a:avLst/>
          </a:prstGeom>
        </p:spPr>
        <p:txBody>
          <a:bodyPr lIns="0" tIns="0" rIns="0" bIns="0" rtlCol="0" anchor="t">
            <a:spAutoFit/>
          </a:bodyPr>
          <a:lstStyle/>
          <a:p>
            <a:pPr algn="ctr">
              <a:lnSpc>
                <a:spcPts val="11275"/>
              </a:lnSpc>
            </a:pPr>
            <a:r>
              <a:rPr lang="en-US" sz="10636">
                <a:solidFill>
                  <a:srgbClr val="FFFFFF"/>
                </a:solidFill>
                <a:latin typeface="Yearbook Solid"/>
              </a:rPr>
              <a:t>On-field Data Analytics</a:t>
            </a:r>
          </a:p>
        </p:txBody>
      </p:sp>
      <p:sp>
        <p:nvSpPr>
          <p:cNvPr id="12" name="TextBox 12"/>
          <p:cNvSpPr txBox="1"/>
          <p:nvPr/>
        </p:nvSpPr>
        <p:spPr>
          <a:xfrm>
            <a:off x="829376" y="3122390"/>
            <a:ext cx="9081891" cy="7164610"/>
          </a:xfrm>
          <a:prstGeom prst="rect">
            <a:avLst/>
          </a:prstGeom>
        </p:spPr>
        <p:txBody>
          <a:bodyPr lIns="0" tIns="0" rIns="0" bIns="0" rtlCol="0" anchor="t">
            <a:spAutoFit/>
          </a:bodyPr>
          <a:lstStyle/>
          <a:p>
            <a:pPr algn="l">
              <a:lnSpc>
                <a:spcPts val="3575"/>
              </a:lnSpc>
            </a:pPr>
            <a:r>
              <a:rPr lang="en-US" sz="2553">
                <a:solidFill>
                  <a:srgbClr val="2B2125"/>
                </a:solidFill>
                <a:latin typeface="Trebuchet MS"/>
              </a:rPr>
              <a:t>On-field data analytics focuses on enhancing athletic performance and competitive strategies. It employs real-time and historical data to inform decisions about game tactics, player evaluations, and even training programs. Coaches, managers, and athletes use this data to gain insights into opponent weaknesses, player form, and tactical options. Metrics such as player speed, ball movement, and positional data are commonly analyzed. This form of analytics often incorporates video footage, biomechanical data, and advanced statistics to offer a holistic view of both individual and team performance. For example, real-time analytics can help coaches make in-game decisions, like when to substitute a player or alter a game plan. On-field analytics aims to provide an actionable, data-supported game plan that can pivot and adapt as the game progresses.</a:t>
            </a:r>
          </a:p>
          <a:p>
            <a:pPr marL="0" lvl="0" indent="0" algn="l">
              <a:lnSpc>
                <a:spcPts val="3575"/>
              </a:lnSpc>
              <a:spcBef>
                <a:spcPct val="0"/>
              </a:spcBef>
            </a:pPr>
            <a:endParaRPr lang="en-US" sz="2553">
              <a:solidFill>
                <a:srgbClr val="2B2125"/>
              </a:solidFill>
              <a:latin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480225" y="-8302241"/>
            <a:ext cx="3327549" cy="19062697"/>
            <a:chOff x="0" y="0"/>
            <a:chExt cx="876392" cy="5020628"/>
          </a:xfrm>
        </p:grpSpPr>
        <p:sp>
          <p:nvSpPr>
            <p:cNvPr id="3" name="Freeform 3"/>
            <p:cNvSpPr/>
            <p:nvPr/>
          </p:nvSpPr>
          <p:spPr>
            <a:xfrm>
              <a:off x="0" y="0"/>
              <a:ext cx="876392" cy="5020628"/>
            </a:xfrm>
            <a:custGeom>
              <a:avLst/>
              <a:gdLst/>
              <a:ahLst/>
              <a:cxnLst/>
              <a:rect l="l" t="t" r="r" b="b"/>
              <a:pathLst>
                <a:path w="876392" h="5020628">
                  <a:moveTo>
                    <a:pt x="0" y="0"/>
                  </a:moveTo>
                  <a:lnTo>
                    <a:pt x="876392" y="0"/>
                  </a:lnTo>
                  <a:lnTo>
                    <a:pt x="876392" y="5020628"/>
                  </a:lnTo>
                  <a:lnTo>
                    <a:pt x="0" y="5020628"/>
                  </a:lnTo>
                  <a:close/>
                </a:path>
              </a:pathLst>
            </a:custGeom>
            <a:solidFill>
              <a:srgbClr val="000000"/>
            </a:solidFill>
          </p:spPr>
          <p:txBody>
            <a:bodyPr/>
            <a:lstStyle/>
            <a:p>
              <a:endParaRPr lang="en-US"/>
            </a:p>
          </p:txBody>
        </p:sp>
        <p:sp>
          <p:nvSpPr>
            <p:cNvPr id="4" name="TextBox 4"/>
            <p:cNvSpPr txBox="1"/>
            <p:nvPr/>
          </p:nvSpPr>
          <p:spPr>
            <a:xfrm>
              <a:off x="0" y="-38100"/>
              <a:ext cx="876392" cy="505872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980209" y="3441871"/>
            <a:ext cx="6317850" cy="8068899"/>
            <a:chOff x="0" y="0"/>
            <a:chExt cx="2184921" cy="2790491"/>
          </a:xfrm>
        </p:grpSpPr>
        <p:sp>
          <p:nvSpPr>
            <p:cNvPr id="6" name="Freeform 6"/>
            <p:cNvSpPr/>
            <p:nvPr/>
          </p:nvSpPr>
          <p:spPr>
            <a:xfrm>
              <a:off x="0" y="0"/>
              <a:ext cx="2184921" cy="2790491"/>
            </a:xfrm>
            <a:custGeom>
              <a:avLst/>
              <a:gdLst/>
              <a:ahLst/>
              <a:cxnLst/>
              <a:rect l="l" t="t" r="r" b="b"/>
              <a:pathLst>
                <a:path w="2184921" h="2790491">
                  <a:moveTo>
                    <a:pt x="51467" y="0"/>
                  </a:moveTo>
                  <a:lnTo>
                    <a:pt x="2133454" y="0"/>
                  </a:lnTo>
                  <a:cubicBezTo>
                    <a:pt x="2147104" y="0"/>
                    <a:pt x="2160195" y="5422"/>
                    <a:pt x="2169847" y="15074"/>
                  </a:cubicBezTo>
                  <a:cubicBezTo>
                    <a:pt x="2179499" y="24726"/>
                    <a:pt x="2184921" y="37817"/>
                    <a:pt x="2184921" y="51467"/>
                  </a:cubicBezTo>
                  <a:lnTo>
                    <a:pt x="2184921" y="2739024"/>
                  </a:lnTo>
                  <a:cubicBezTo>
                    <a:pt x="2184921" y="2767449"/>
                    <a:pt x="2161878" y="2790491"/>
                    <a:pt x="2133454" y="2790491"/>
                  </a:cubicBezTo>
                  <a:lnTo>
                    <a:pt x="51467" y="2790491"/>
                  </a:lnTo>
                  <a:cubicBezTo>
                    <a:pt x="23043" y="2790491"/>
                    <a:pt x="0" y="2767449"/>
                    <a:pt x="0" y="2739024"/>
                  </a:cubicBezTo>
                  <a:lnTo>
                    <a:pt x="0" y="51467"/>
                  </a:lnTo>
                  <a:cubicBezTo>
                    <a:pt x="0" y="23043"/>
                    <a:pt x="23043" y="0"/>
                    <a:pt x="51467" y="0"/>
                  </a:cubicBezTo>
                  <a:close/>
                </a:path>
              </a:pathLst>
            </a:custGeom>
            <a:solidFill>
              <a:srgbClr val="DD9C47"/>
            </a:solidFill>
          </p:spPr>
          <p:txBody>
            <a:bodyPr/>
            <a:lstStyle/>
            <a:p>
              <a:endParaRPr lang="en-US"/>
            </a:p>
          </p:txBody>
        </p:sp>
        <p:sp>
          <p:nvSpPr>
            <p:cNvPr id="7" name="TextBox 7"/>
            <p:cNvSpPr txBox="1"/>
            <p:nvPr/>
          </p:nvSpPr>
          <p:spPr>
            <a:xfrm>
              <a:off x="0" y="-38100"/>
              <a:ext cx="2184921" cy="2828591"/>
            </a:xfrm>
            <a:prstGeom prst="rect">
              <a:avLst/>
            </a:prstGeom>
          </p:spPr>
          <p:txBody>
            <a:bodyPr lIns="22961" tIns="22961" rIns="22961" bIns="22961" rtlCol="0" anchor="ctr"/>
            <a:lstStyle/>
            <a:p>
              <a:pPr algn="ctr">
                <a:lnSpc>
                  <a:spcPts val="2660"/>
                </a:lnSpc>
              </a:pPr>
              <a:endParaRPr/>
            </a:p>
          </p:txBody>
        </p:sp>
      </p:grpSp>
      <p:sp>
        <p:nvSpPr>
          <p:cNvPr id="8" name="Freeform 8"/>
          <p:cNvSpPr/>
          <p:nvPr/>
        </p:nvSpPr>
        <p:spPr>
          <a:xfrm>
            <a:off x="11197655" y="3871967"/>
            <a:ext cx="5882959" cy="7817886"/>
          </a:xfrm>
          <a:custGeom>
            <a:avLst/>
            <a:gdLst/>
            <a:ahLst/>
            <a:cxnLst/>
            <a:rect l="l" t="t" r="r" b="b"/>
            <a:pathLst>
              <a:path w="5882959" h="7817886">
                <a:moveTo>
                  <a:pt x="0" y="0"/>
                </a:moveTo>
                <a:lnTo>
                  <a:pt x="5882959" y="0"/>
                </a:lnTo>
                <a:lnTo>
                  <a:pt x="5882959" y="7817886"/>
                </a:lnTo>
                <a:lnTo>
                  <a:pt x="0" y="7817886"/>
                </a:lnTo>
                <a:lnTo>
                  <a:pt x="0" y="0"/>
                </a:lnTo>
                <a:close/>
              </a:path>
            </a:pathLst>
          </a:custGeom>
          <a:blipFill>
            <a:blip r:embed="rId2"/>
            <a:stretch>
              <a:fillRect/>
            </a:stretch>
          </a:blipFill>
        </p:spPr>
        <p:txBody>
          <a:bodyPr/>
          <a:lstStyle/>
          <a:p>
            <a:endParaRPr lang="en-US"/>
          </a:p>
        </p:txBody>
      </p:sp>
      <p:sp>
        <p:nvSpPr>
          <p:cNvPr id="9" name="Freeform 9"/>
          <p:cNvSpPr/>
          <p:nvPr/>
        </p:nvSpPr>
        <p:spPr>
          <a:xfrm>
            <a:off x="-387349" y="-7937393"/>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3">
              <a:alphaModFix amt="42000"/>
            </a:blip>
            <a:stretch>
              <a:fillRect/>
            </a:stretch>
          </a:blipFill>
        </p:spPr>
        <p:txBody>
          <a:bodyPr/>
          <a:lstStyle/>
          <a:p>
            <a:endParaRPr lang="en-US"/>
          </a:p>
        </p:txBody>
      </p:sp>
      <p:sp>
        <p:nvSpPr>
          <p:cNvPr id="10" name="Freeform 10"/>
          <p:cNvSpPr/>
          <p:nvPr/>
        </p:nvSpPr>
        <p:spPr>
          <a:xfrm>
            <a:off x="10382162" y="-7937393"/>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3">
              <a:alphaModFix amt="42000"/>
            </a:blip>
            <a:stretch>
              <a:fillRect/>
            </a:stretch>
          </a:blipFill>
        </p:spPr>
        <p:txBody>
          <a:bodyPr/>
          <a:lstStyle/>
          <a:p>
            <a:endParaRPr lang="en-US"/>
          </a:p>
        </p:txBody>
      </p:sp>
      <p:sp>
        <p:nvSpPr>
          <p:cNvPr id="11" name="TextBox 11"/>
          <p:cNvSpPr txBox="1"/>
          <p:nvPr/>
        </p:nvSpPr>
        <p:spPr>
          <a:xfrm>
            <a:off x="0" y="844230"/>
            <a:ext cx="18288000" cy="1474997"/>
          </a:xfrm>
          <a:prstGeom prst="rect">
            <a:avLst/>
          </a:prstGeom>
        </p:spPr>
        <p:txBody>
          <a:bodyPr lIns="0" tIns="0" rIns="0" bIns="0" rtlCol="0" anchor="t">
            <a:spAutoFit/>
          </a:bodyPr>
          <a:lstStyle/>
          <a:p>
            <a:pPr algn="ctr">
              <a:lnSpc>
                <a:spcPts val="11275"/>
              </a:lnSpc>
            </a:pPr>
            <a:r>
              <a:rPr lang="en-US" sz="10636">
                <a:solidFill>
                  <a:srgbClr val="FFFFFF"/>
                </a:solidFill>
                <a:latin typeface="Yearbook Solid"/>
              </a:rPr>
              <a:t>Off-field Data Analytics</a:t>
            </a:r>
          </a:p>
        </p:txBody>
      </p:sp>
      <p:sp>
        <p:nvSpPr>
          <p:cNvPr id="12" name="TextBox 12"/>
          <p:cNvSpPr txBox="1"/>
          <p:nvPr/>
        </p:nvSpPr>
        <p:spPr>
          <a:xfrm>
            <a:off x="829376" y="3122390"/>
            <a:ext cx="9978850" cy="7164610"/>
          </a:xfrm>
          <a:prstGeom prst="rect">
            <a:avLst/>
          </a:prstGeom>
        </p:spPr>
        <p:txBody>
          <a:bodyPr lIns="0" tIns="0" rIns="0" bIns="0" rtlCol="0" anchor="t">
            <a:spAutoFit/>
          </a:bodyPr>
          <a:lstStyle/>
          <a:p>
            <a:pPr algn="l">
              <a:lnSpc>
                <a:spcPts val="3575"/>
              </a:lnSpc>
            </a:pPr>
            <a:r>
              <a:rPr lang="en-US" sz="2553">
                <a:solidFill>
                  <a:srgbClr val="2B2125"/>
                </a:solidFill>
                <a:latin typeface="Trebuchet MS"/>
              </a:rPr>
              <a:t>Off-field data analytics serves to transform raw data into actionable insights that facilitate strategic business decisions, enhancing both revenue and competitive positioning. Ben Alamar, director of production analytics at ESON, states that a key goal should be to efficiently deliver relevant data to decision-makers. This allows them to focus on analysis rather than data gathering. Such analytics can boost revenue, reduce costs, and optimize human resource deployment. It’s instrumental in fine-tuning customer relationship management (CRM) initiatives to better understand and target existing and potential fans. Off-field analytics also refines business processes in ticket pricing, corporate partnership development, and food and beverage offerings. According to a recent study, organizations that adopted a data analytics strategy saw a revenue growth of 7.2% in the following year, compared to the industry average growth expectation of 3%.</a:t>
            </a:r>
          </a:p>
          <a:p>
            <a:pPr marL="0" lvl="0" indent="0" algn="l">
              <a:lnSpc>
                <a:spcPts val="3575"/>
              </a:lnSpc>
              <a:spcBef>
                <a:spcPct val="0"/>
              </a:spcBef>
            </a:pPr>
            <a:endParaRPr lang="en-US" sz="2553">
              <a:solidFill>
                <a:srgbClr val="2B2125"/>
              </a:solidFill>
              <a:latin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480225" y="-8302241"/>
            <a:ext cx="3327549" cy="19062697"/>
            <a:chOff x="0" y="0"/>
            <a:chExt cx="876392" cy="5020628"/>
          </a:xfrm>
        </p:grpSpPr>
        <p:sp>
          <p:nvSpPr>
            <p:cNvPr id="3" name="Freeform 3"/>
            <p:cNvSpPr/>
            <p:nvPr/>
          </p:nvSpPr>
          <p:spPr>
            <a:xfrm>
              <a:off x="0" y="0"/>
              <a:ext cx="876392" cy="5020628"/>
            </a:xfrm>
            <a:custGeom>
              <a:avLst/>
              <a:gdLst/>
              <a:ahLst/>
              <a:cxnLst/>
              <a:rect l="l" t="t" r="r" b="b"/>
              <a:pathLst>
                <a:path w="876392" h="5020628">
                  <a:moveTo>
                    <a:pt x="0" y="0"/>
                  </a:moveTo>
                  <a:lnTo>
                    <a:pt x="876392" y="0"/>
                  </a:lnTo>
                  <a:lnTo>
                    <a:pt x="876392" y="5020628"/>
                  </a:lnTo>
                  <a:lnTo>
                    <a:pt x="0" y="5020628"/>
                  </a:lnTo>
                  <a:close/>
                </a:path>
              </a:pathLst>
            </a:custGeom>
            <a:solidFill>
              <a:srgbClr val="000000"/>
            </a:solidFill>
          </p:spPr>
          <p:txBody>
            <a:bodyPr/>
            <a:lstStyle/>
            <a:p>
              <a:endParaRPr lang="en-US"/>
            </a:p>
          </p:txBody>
        </p:sp>
        <p:sp>
          <p:nvSpPr>
            <p:cNvPr id="4" name="TextBox 4"/>
            <p:cNvSpPr txBox="1"/>
            <p:nvPr/>
          </p:nvSpPr>
          <p:spPr>
            <a:xfrm>
              <a:off x="0" y="-38100"/>
              <a:ext cx="876392" cy="505872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87349" y="-7937393"/>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6" name="Freeform 6"/>
          <p:cNvSpPr/>
          <p:nvPr/>
        </p:nvSpPr>
        <p:spPr>
          <a:xfrm>
            <a:off x="10382162" y="-7937393"/>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7" name="Freeform 7"/>
          <p:cNvSpPr/>
          <p:nvPr/>
        </p:nvSpPr>
        <p:spPr>
          <a:xfrm>
            <a:off x="4106277" y="3433716"/>
            <a:ext cx="1230154" cy="2282441"/>
          </a:xfrm>
          <a:custGeom>
            <a:avLst/>
            <a:gdLst/>
            <a:ahLst/>
            <a:cxnLst/>
            <a:rect l="l" t="t" r="r" b="b"/>
            <a:pathLst>
              <a:path w="1230154" h="2282441">
                <a:moveTo>
                  <a:pt x="0" y="0"/>
                </a:moveTo>
                <a:lnTo>
                  <a:pt x="1230154" y="0"/>
                </a:lnTo>
                <a:lnTo>
                  <a:pt x="1230154" y="2282442"/>
                </a:lnTo>
                <a:lnTo>
                  <a:pt x="0" y="2282442"/>
                </a:lnTo>
                <a:lnTo>
                  <a:pt x="0" y="0"/>
                </a:lnTo>
                <a:close/>
              </a:path>
            </a:pathLst>
          </a:custGeom>
          <a:blipFill>
            <a:blip r:embed="rId3"/>
            <a:stretch>
              <a:fillRect/>
            </a:stretch>
          </a:blipFill>
        </p:spPr>
        <p:txBody>
          <a:bodyPr/>
          <a:lstStyle/>
          <a:p>
            <a:endParaRPr lang="en-US"/>
          </a:p>
        </p:txBody>
      </p:sp>
      <p:sp>
        <p:nvSpPr>
          <p:cNvPr id="8" name="Freeform 8"/>
          <p:cNvSpPr/>
          <p:nvPr/>
        </p:nvSpPr>
        <p:spPr>
          <a:xfrm>
            <a:off x="1028700" y="3219185"/>
            <a:ext cx="1872591" cy="2079142"/>
          </a:xfrm>
          <a:custGeom>
            <a:avLst/>
            <a:gdLst/>
            <a:ahLst/>
            <a:cxnLst/>
            <a:rect l="l" t="t" r="r" b="b"/>
            <a:pathLst>
              <a:path w="1872591" h="2079142">
                <a:moveTo>
                  <a:pt x="0" y="0"/>
                </a:moveTo>
                <a:lnTo>
                  <a:pt x="1872591" y="0"/>
                </a:lnTo>
                <a:lnTo>
                  <a:pt x="1872591" y="2079142"/>
                </a:lnTo>
                <a:lnTo>
                  <a:pt x="0" y="2079142"/>
                </a:lnTo>
                <a:lnTo>
                  <a:pt x="0" y="0"/>
                </a:lnTo>
                <a:close/>
              </a:path>
            </a:pathLst>
          </a:custGeom>
          <a:blipFill>
            <a:blip r:embed="rId4"/>
            <a:stretch>
              <a:fillRect/>
            </a:stretch>
          </a:blipFill>
        </p:spPr>
        <p:txBody>
          <a:bodyPr/>
          <a:lstStyle/>
          <a:p>
            <a:endParaRPr lang="en-US"/>
          </a:p>
        </p:txBody>
      </p:sp>
      <p:sp>
        <p:nvSpPr>
          <p:cNvPr id="9" name="Freeform 9"/>
          <p:cNvSpPr/>
          <p:nvPr/>
        </p:nvSpPr>
        <p:spPr>
          <a:xfrm rot="-451173">
            <a:off x="906333" y="7384449"/>
            <a:ext cx="2247900" cy="1961663"/>
          </a:xfrm>
          <a:custGeom>
            <a:avLst/>
            <a:gdLst/>
            <a:ahLst/>
            <a:cxnLst/>
            <a:rect l="l" t="t" r="r" b="b"/>
            <a:pathLst>
              <a:path w="2247900" h="1961663">
                <a:moveTo>
                  <a:pt x="0" y="0"/>
                </a:moveTo>
                <a:lnTo>
                  <a:pt x="2247900" y="0"/>
                </a:lnTo>
                <a:lnTo>
                  <a:pt x="2247900" y="1961663"/>
                </a:lnTo>
                <a:lnTo>
                  <a:pt x="0" y="1961663"/>
                </a:lnTo>
                <a:lnTo>
                  <a:pt x="0" y="0"/>
                </a:lnTo>
                <a:close/>
              </a:path>
            </a:pathLst>
          </a:custGeom>
          <a:blipFill>
            <a:blip r:embed="rId5"/>
            <a:stretch>
              <a:fillRect/>
            </a:stretch>
          </a:blipFill>
        </p:spPr>
        <p:txBody>
          <a:bodyPr/>
          <a:lstStyle/>
          <a:p>
            <a:endParaRPr lang="en-US"/>
          </a:p>
        </p:txBody>
      </p:sp>
      <p:sp>
        <p:nvSpPr>
          <p:cNvPr id="10" name="Freeform 10"/>
          <p:cNvSpPr/>
          <p:nvPr/>
        </p:nvSpPr>
        <p:spPr>
          <a:xfrm rot="484463">
            <a:off x="5286247" y="4827393"/>
            <a:ext cx="1898594" cy="2646124"/>
          </a:xfrm>
          <a:custGeom>
            <a:avLst/>
            <a:gdLst/>
            <a:ahLst/>
            <a:cxnLst/>
            <a:rect l="l" t="t" r="r" b="b"/>
            <a:pathLst>
              <a:path w="1898594" h="2646124">
                <a:moveTo>
                  <a:pt x="0" y="0"/>
                </a:moveTo>
                <a:lnTo>
                  <a:pt x="1898594" y="0"/>
                </a:lnTo>
                <a:lnTo>
                  <a:pt x="1898594" y="2646124"/>
                </a:lnTo>
                <a:lnTo>
                  <a:pt x="0" y="2646124"/>
                </a:lnTo>
                <a:lnTo>
                  <a:pt x="0" y="0"/>
                </a:lnTo>
                <a:close/>
              </a:path>
            </a:pathLst>
          </a:custGeom>
          <a:blipFill>
            <a:blip r:embed="rId6"/>
            <a:stretch>
              <a:fillRect/>
            </a:stretch>
          </a:blipFill>
        </p:spPr>
        <p:txBody>
          <a:bodyPr/>
          <a:lstStyle/>
          <a:p>
            <a:endParaRPr lang="en-US"/>
          </a:p>
        </p:txBody>
      </p:sp>
      <p:sp>
        <p:nvSpPr>
          <p:cNvPr id="11" name="Freeform 11"/>
          <p:cNvSpPr/>
          <p:nvPr/>
        </p:nvSpPr>
        <p:spPr>
          <a:xfrm>
            <a:off x="6283094" y="3005297"/>
            <a:ext cx="2053674" cy="1843173"/>
          </a:xfrm>
          <a:custGeom>
            <a:avLst/>
            <a:gdLst/>
            <a:ahLst/>
            <a:cxnLst/>
            <a:rect l="l" t="t" r="r" b="b"/>
            <a:pathLst>
              <a:path w="2053674" h="1843173">
                <a:moveTo>
                  <a:pt x="0" y="0"/>
                </a:moveTo>
                <a:lnTo>
                  <a:pt x="2053674" y="0"/>
                </a:lnTo>
                <a:lnTo>
                  <a:pt x="2053674" y="1843172"/>
                </a:lnTo>
                <a:lnTo>
                  <a:pt x="0" y="1843172"/>
                </a:lnTo>
                <a:lnTo>
                  <a:pt x="0" y="0"/>
                </a:lnTo>
                <a:close/>
              </a:path>
            </a:pathLst>
          </a:custGeom>
          <a:blipFill>
            <a:blip r:embed="rId7"/>
            <a:stretch>
              <a:fillRect/>
            </a:stretch>
          </a:blipFill>
        </p:spPr>
        <p:txBody>
          <a:bodyPr/>
          <a:lstStyle/>
          <a:p>
            <a:endParaRPr lang="en-US"/>
          </a:p>
        </p:txBody>
      </p:sp>
      <p:sp>
        <p:nvSpPr>
          <p:cNvPr id="12" name="Freeform 12"/>
          <p:cNvSpPr/>
          <p:nvPr/>
        </p:nvSpPr>
        <p:spPr>
          <a:xfrm rot="-679784">
            <a:off x="14959422" y="7048533"/>
            <a:ext cx="2884765" cy="2633496"/>
          </a:xfrm>
          <a:custGeom>
            <a:avLst/>
            <a:gdLst/>
            <a:ahLst/>
            <a:cxnLst/>
            <a:rect l="l" t="t" r="r" b="b"/>
            <a:pathLst>
              <a:path w="2884765" h="2633496">
                <a:moveTo>
                  <a:pt x="0" y="0"/>
                </a:moveTo>
                <a:lnTo>
                  <a:pt x="2884765" y="0"/>
                </a:lnTo>
                <a:lnTo>
                  <a:pt x="2884765" y="2633495"/>
                </a:lnTo>
                <a:lnTo>
                  <a:pt x="0" y="2633495"/>
                </a:lnTo>
                <a:lnTo>
                  <a:pt x="0" y="0"/>
                </a:lnTo>
                <a:close/>
              </a:path>
            </a:pathLst>
          </a:custGeom>
          <a:blipFill>
            <a:blip r:embed="rId8"/>
            <a:stretch>
              <a:fillRect/>
            </a:stretch>
          </a:blipFill>
        </p:spPr>
        <p:txBody>
          <a:bodyPr/>
          <a:lstStyle/>
          <a:p>
            <a:endParaRPr lang="en-US"/>
          </a:p>
        </p:txBody>
      </p:sp>
      <p:sp>
        <p:nvSpPr>
          <p:cNvPr id="13" name="Freeform 13"/>
          <p:cNvSpPr/>
          <p:nvPr/>
        </p:nvSpPr>
        <p:spPr>
          <a:xfrm>
            <a:off x="12551219" y="7590950"/>
            <a:ext cx="1910929" cy="2121918"/>
          </a:xfrm>
          <a:custGeom>
            <a:avLst/>
            <a:gdLst/>
            <a:ahLst/>
            <a:cxnLst/>
            <a:rect l="l" t="t" r="r" b="b"/>
            <a:pathLst>
              <a:path w="1910929" h="2121918">
                <a:moveTo>
                  <a:pt x="0" y="0"/>
                </a:moveTo>
                <a:lnTo>
                  <a:pt x="1910929" y="0"/>
                </a:lnTo>
                <a:lnTo>
                  <a:pt x="1910929" y="2121918"/>
                </a:lnTo>
                <a:lnTo>
                  <a:pt x="0" y="2121918"/>
                </a:lnTo>
                <a:lnTo>
                  <a:pt x="0" y="0"/>
                </a:lnTo>
                <a:close/>
              </a:path>
            </a:pathLst>
          </a:custGeom>
          <a:blipFill>
            <a:blip r:embed="rId9"/>
            <a:stretch>
              <a:fillRect/>
            </a:stretch>
          </a:blipFill>
        </p:spPr>
        <p:txBody>
          <a:bodyPr/>
          <a:lstStyle/>
          <a:p>
            <a:endParaRPr lang="en-US"/>
          </a:p>
        </p:txBody>
      </p:sp>
      <p:sp>
        <p:nvSpPr>
          <p:cNvPr id="14" name="Freeform 14"/>
          <p:cNvSpPr/>
          <p:nvPr/>
        </p:nvSpPr>
        <p:spPr>
          <a:xfrm>
            <a:off x="6235544" y="7856075"/>
            <a:ext cx="1964521" cy="1908866"/>
          </a:xfrm>
          <a:custGeom>
            <a:avLst/>
            <a:gdLst/>
            <a:ahLst/>
            <a:cxnLst/>
            <a:rect l="l" t="t" r="r" b="b"/>
            <a:pathLst>
              <a:path w="1964521" h="1908866">
                <a:moveTo>
                  <a:pt x="0" y="0"/>
                </a:moveTo>
                <a:lnTo>
                  <a:pt x="1964521" y="0"/>
                </a:lnTo>
                <a:lnTo>
                  <a:pt x="1964521" y="1908866"/>
                </a:lnTo>
                <a:lnTo>
                  <a:pt x="0" y="1908866"/>
                </a:lnTo>
                <a:lnTo>
                  <a:pt x="0" y="0"/>
                </a:lnTo>
                <a:close/>
              </a:path>
            </a:pathLst>
          </a:custGeom>
          <a:blipFill>
            <a:blip r:embed="rId10"/>
            <a:stretch>
              <a:fillRect/>
            </a:stretch>
          </a:blipFill>
        </p:spPr>
        <p:txBody>
          <a:bodyPr/>
          <a:lstStyle/>
          <a:p>
            <a:endParaRPr lang="en-US"/>
          </a:p>
        </p:txBody>
      </p:sp>
      <p:sp>
        <p:nvSpPr>
          <p:cNvPr id="15" name="Freeform 15"/>
          <p:cNvSpPr/>
          <p:nvPr/>
        </p:nvSpPr>
        <p:spPr>
          <a:xfrm>
            <a:off x="15797300" y="3261165"/>
            <a:ext cx="1801124" cy="1759856"/>
          </a:xfrm>
          <a:custGeom>
            <a:avLst/>
            <a:gdLst/>
            <a:ahLst/>
            <a:cxnLst/>
            <a:rect l="l" t="t" r="r" b="b"/>
            <a:pathLst>
              <a:path w="1801124" h="1759856">
                <a:moveTo>
                  <a:pt x="0" y="0"/>
                </a:moveTo>
                <a:lnTo>
                  <a:pt x="1801124" y="0"/>
                </a:lnTo>
                <a:lnTo>
                  <a:pt x="1801124" y="1759856"/>
                </a:lnTo>
                <a:lnTo>
                  <a:pt x="0" y="1759856"/>
                </a:lnTo>
                <a:lnTo>
                  <a:pt x="0" y="0"/>
                </a:lnTo>
                <a:close/>
              </a:path>
            </a:pathLst>
          </a:custGeom>
          <a:blipFill>
            <a:blip r:embed="rId11"/>
            <a:stretch>
              <a:fillRect/>
            </a:stretch>
          </a:blipFill>
        </p:spPr>
        <p:txBody>
          <a:bodyPr/>
          <a:lstStyle/>
          <a:p>
            <a:endParaRPr lang="en-US"/>
          </a:p>
        </p:txBody>
      </p:sp>
      <p:sp>
        <p:nvSpPr>
          <p:cNvPr id="16" name="Freeform 16"/>
          <p:cNvSpPr/>
          <p:nvPr/>
        </p:nvSpPr>
        <p:spPr>
          <a:xfrm>
            <a:off x="13576191" y="4776681"/>
            <a:ext cx="2349277" cy="2386138"/>
          </a:xfrm>
          <a:custGeom>
            <a:avLst/>
            <a:gdLst/>
            <a:ahLst/>
            <a:cxnLst/>
            <a:rect l="l" t="t" r="r" b="b"/>
            <a:pathLst>
              <a:path w="2349277" h="2386138">
                <a:moveTo>
                  <a:pt x="0" y="0"/>
                </a:moveTo>
                <a:lnTo>
                  <a:pt x="2349277" y="0"/>
                </a:lnTo>
                <a:lnTo>
                  <a:pt x="2349277" y="2386138"/>
                </a:lnTo>
                <a:lnTo>
                  <a:pt x="0" y="2386138"/>
                </a:lnTo>
                <a:lnTo>
                  <a:pt x="0" y="0"/>
                </a:lnTo>
                <a:close/>
              </a:path>
            </a:pathLst>
          </a:custGeom>
          <a:blipFill>
            <a:blip r:embed="rId12"/>
            <a:stretch>
              <a:fillRect/>
            </a:stretch>
          </a:blipFill>
        </p:spPr>
        <p:txBody>
          <a:bodyPr/>
          <a:lstStyle/>
          <a:p>
            <a:endParaRPr lang="en-US"/>
          </a:p>
        </p:txBody>
      </p:sp>
      <p:sp>
        <p:nvSpPr>
          <p:cNvPr id="17" name="Freeform 17"/>
          <p:cNvSpPr/>
          <p:nvPr/>
        </p:nvSpPr>
        <p:spPr>
          <a:xfrm>
            <a:off x="10442927" y="3404683"/>
            <a:ext cx="2108292" cy="2190434"/>
          </a:xfrm>
          <a:custGeom>
            <a:avLst/>
            <a:gdLst/>
            <a:ahLst/>
            <a:cxnLst/>
            <a:rect l="l" t="t" r="r" b="b"/>
            <a:pathLst>
              <a:path w="2108292" h="2190434">
                <a:moveTo>
                  <a:pt x="0" y="0"/>
                </a:moveTo>
                <a:lnTo>
                  <a:pt x="2108292" y="0"/>
                </a:lnTo>
                <a:lnTo>
                  <a:pt x="2108292" y="2190434"/>
                </a:lnTo>
                <a:lnTo>
                  <a:pt x="0" y="2190434"/>
                </a:lnTo>
                <a:lnTo>
                  <a:pt x="0" y="0"/>
                </a:lnTo>
                <a:close/>
              </a:path>
            </a:pathLst>
          </a:custGeom>
          <a:blipFill>
            <a:blip r:embed="rId13"/>
            <a:stretch>
              <a:fillRect/>
            </a:stretch>
          </a:blipFill>
        </p:spPr>
        <p:txBody>
          <a:bodyPr/>
          <a:lstStyle/>
          <a:p>
            <a:endParaRPr lang="en-US"/>
          </a:p>
        </p:txBody>
      </p:sp>
      <p:sp>
        <p:nvSpPr>
          <p:cNvPr id="18" name="Freeform 18"/>
          <p:cNvSpPr/>
          <p:nvPr/>
        </p:nvSpPr>
        <p:spPr>
          <a:xfrm>
            <a:off x="12551219" y="3095720"/>
            <a:ext cx="2685753" cy="1611452"/>
          </a:xfrm>
          <a:custGeom>
            <a:avLst/>
            <a:gdLst/>
            <a:ahLst/>
            <a:cxnLst/>
            <a:rect l="l" t="t" r="r" b="b"/>
            <a:pathLst>
              <a:path w="2685753" h="1611452">
                <a:moveTo>
                  <a:pt x="0" y="0"/>
                </a:moveTo>
                <a:lnTo>
                  <a:pt x="2685753" y="0"/>
                </a:lnTo>
                <a:lnTo>
                  <a:pt x="2685753" y="1611452"/>
                </a:lnTo>
                <a:lnTo>
                  <a:pt x="0" y="1611452"/>
                </a:lnTo>
                <a:lnTo>
                  <a:pt x="0" y="0"/>
                </a:lnTo>
                <a:close/>
              </a:path>
            </a:pathLst>
          </a:custGeom>
          <a:blipFill>
            <a:blip r:embed="rId14"/>
            <a:stretch>
              <a:fillRect/>
            </a:stretch>
          </a:blipFill>
        </p:spPr>
        <p:txBody>
          <a:bodyPr/>
          <a:lstStyle/>
          <a:p>
            <a:endParaRPr lang="en-US"/>
          </a:p>
        </p:txBody>
      </p:sp>
      <p:sp>
        <p:nvSpPr>
          <p:cNvPr id="19" name="Freeform 19"/>
          <p:cNvSpPr/>
          <p:nvPr/>
        </p:nvSpPr>
        <p:spPr>
          <a:xfrm>
            <a:off x="8105700" y="3965833"/>
            <a:ext cx="2452073" cy="3258568"/>
          </a:xfrm>
          <a:custGeom>
            <a:avLst/>
            <a:gdLst/>
            <a:ahLst/>
            <a:cxnLst/>
            <a:rect l="l" t="t" r="r" b="b"/>
            <a:pathLst>
              <a:path w="2452073" h="3258568">
                <a:moveTo>
                  <a:pt x="0" y="0"/>
                </a:moveTo>
                <a:lnTo>
                  <a:pt x="2452073" y="0"/>
                </a:lnTo>
                <a:lnTo>
                  <a:pt x="2452073" y="3258568"/>
                </a:lnTo>
                <a:lnTo>
                  <a:pt x="0" y="3258568"/>
                </a:lnTo>
                <a:lnTo>
                  <a:pt x="0" y="0"/>
                </a:lnTo>
                <a:close/>
              </a:path>
            </a:pathLst>
          </a:custGeom>
          <a:blipFill>
            <a:blip r:embed="rId15"/>
            <a:stretch>
              <a:fillRect/>
            </a:stretch>
          </a:blipFill>
        </p:spPr>
        <p:txBody>
          <a:bodyPr/>
          <a:lstStyle/>
          <a:p>
            <a:endParaRPr lang="en-US"/>
          </a:p>
        </p:txBody>
      </p:sp>
      <p:sp>
        <p:nvSpPr>
          <p:cNvPr id="20" name="Freeform 20"/>
          <p:cNvSpPr/>
          <p:nvPr/>
        </p:nvSpPr>
        <p:spPr>
          <a:xfrm>
            <a:off x="8336768" y="7340499"/>
            <a:ext cx="1989936" cy="1917801"/>
          </a:xfrm>
          <a:custGeom>
            <a:avLst/>
            <a:gdLst/>
            <a:ahLst/>
            <a:cxnLst/>
            <a:rect l="l" t="t" r="r" b="b"/>
            <a:pathLst>
              <a:path w="1989936" h="1917801">
                <a:moveTo>
                  <a:pt x="0" y="0"/>
                </a:moveTo>
                <a:lnTo>
                  <a:pt x="1989936" y="0"/>
                </a:lnTo>
                <a:lnTo>
                  <a:pt x="1989936" y="1917801"/>
                </a:lnTo>
                <a:lnTo>
                  <a:pt x="0" y="1917801"/>
                </a:lnTo>
                <a:lnTo>
                  <a:pt x="0" y="0"/>
                </a:lnTo>
                <a:close/>
              </a:path>
            </a:pathLst>
          </a:custGeom>
          <a:blipFill>
            <a:blip r:embed="rId16"/>
            <a:stretch>
              <a:fillRect/>
            </a:stretch>
          </a:blipFill>
        </p:spPr>
        <p:txBody>
          <a:bodyPr/>
          <a:lstStyle/>
          <a:p>
            <a:endParaRPr lang="en-US"/>
          </a:p>
        </p:txBody>
      </p:sp>
      <p:sp>
        <p:nvSpPr>
          <p:cNvPr id="21" name="Freeform 21"/>
          <p:cNvSpPr/>
          <p:nvPr/>
        </p:nvSpPr>
        <p:spPr>
          <a:xfrm>
            <a:off x="3538104" y="7439908"/>
            <a:ext cx="2099061" cy="2180842"/>
          </a:xfrm>
          <a:custGeom>
            <a:avLst/>
            <a:gdLst/>
            <a:ahLst/>
            <a:cxnLst/>
            <a:rect l="l" t="t" r="r" b="b"/>
            <a:pathLst>
              <a:path w="2099061" h="2180842">
                <a:moveTo>
                  <a:pt x="0" y="0"/>
                </a:moveTo>
                <a:lnTo>
                  <a:pt x="2099061" y="0"/>
                </a:lnTo>
                <a:lnTo>
                  <a:pt x="2099061" y="2180842"/>
                </a:lnTo>
                <a:lnTo>
                  <a:pt x="0" y="2180842"/>
                </a:lnTo>
                <a:lnTo>
                  <a:pt x="0" y="0"/>
                </a:lnTo>
                <a:close/>
              </a:path>
            </a:pathLst>
          </a:custGeom>
          <a:blipFill>
            <a:blip r:embed="rId17"/>
            <a:stretch>
              <a:fillRect/>
            </a:stretch>
          </a:blipFill>
        </p:spPr>
        <p:txBody>
          <a:bodyPr/>
          <a:lstStyle/>
          <a:p>
            <a:endParaRPr lang="en-US"/>
          </a:p>
        </p:txBody>
      </p:sp>
      <p:sp>
        <p:nvSpPr>
          <p:cNvPr id="22" name="Freeform 22"/>
          <p:cNvSpPr/>
          <p:nvPr/>
        </p:nvSpPr>
        <p:spPr>
          <a:xfrm>
            <a:off x="2336927" y="5327340"/>
            <a:ext cx="2027954" cy="2115206"/>
          </a:xfrm>
          <a:custGeom>
            <a:avLst/>
            <a:gdLst/>
            <a:ahLst/>
            <a:cxnLst/>
            <a:rect l="l" t="t" r="r" b="b"/>
            <a:pathLst>
              <a:path w="2027954" h="2115206">
                <a:moveTo>
                  <a:pt x="0" y="0"/>
                </a:moveTo>
                <a:lnTo>
                  <a:pt x="2027954" y="0"/>
                </a:lnTo>
                <a:lnTo>
                  <a:pt x="2027954" y="2115207"/>
                </a:lnTo>
                <a:lnTo>
                  <a:pt x="0" y="2115207"/>
                </a:lnTo>
                <a:lnTo>
                  <a:pt x="0" y="0"/>
                </a:lnTo>
                <a:close/>
              </a:path>
            </a:pathLst>
          </a:custGeom>
          <a:blipFill>
            <a:blip r:embed="rId18"/>
            <a:stretch>
              <a:fillRect/>
            </a:stretch>
          </a:blipFill>
        </p:spPr>
        <p:txBody>
          <a:bodyPr/>
          <a:lstStyle/>
          <a:p>
            <a:endParaRPr lang="en-US"/>
          </a:p>
        </p:txBody>
      </p:sp>
      <p:sp>
        <p:nvSpPr>
          <p:cNvPr id="23" name="Freeform 23"/>
          <p:cNvSpPr/>
          <p:nvPr/>
        </p:nvSpPr>
        <p:spPr>
          <a:xfrm>
            <a:off x="10641669" y="5960264"/>
            <a:ext cx="2191571" cy="2405016"/>
          </a:xfrm>
          <a:custGeom>
            <a:avLst/>
            <a:gdLst/>
            <a:ahLst/>
            <a:cxnLst/>
            <a:rect l="l" t="t" r="r" b="b"/>
            <a:pathLst>
              <a:path w="2191571" h="2405016">
                <a:moveTo>
                  <a:pt x="0" y="0"/>
                </a:moveTo>
                <a:lnTo>
                  <a:pt x="2191572" y="0"/>
                </a:lnTo>
                <a:lnTo>
                  <a:pt x="2191572" y="2405016"/>
                </a:lnTo>
                <a:lnTo>
                  <a:pt x="0" y="2405016"/>
                </a:lnTo>
                <a:lnTo>
                  <a:pt x="0" y="0"/>
                </a:lnTo>
                <a:close/>
              </a:path>
            </a:pathLst>
          </a:custGeom>
          <a:blipFill>
            <a:blip r:embed="rId19"/>
            <a:stretch>
              <a:fillRect/>
            </a:stretch>
          </a:blipFill>
        </p:spPr>
        <p:txBody>
          <a:bodyPr/>
          <a:lstStyle/>
          <a:p>
            <a:endParaRPr lang="en-US"/>
          </a:p>
        </p:txBody>
      </p:sp>
      <p:sp>
        <p:nvSpPr>
          <p:cNvPr id="24" name="TextBox 24"/>
          <p:cNvSpPr txBox="1"/>
          <p:nvPr/>
        </p:nvSpPr>
        <p:spPr>
          <a:xfrm>
            <a:off x="961320" y="993723"/>
            <a:ext cx="16365361" cy="1495987"/>
          </a:xfrm>
          <a:prstGeom prst="rect">
            <a:avLst/>
          </a:prstGeom>
        </p:spPr>
        <p:txBody>
          <a:bodyPr lIns="0" tIns="0" rIns="0" bIns="0" rtlCol="0" anchor="t">
            <a:spAutoFit/>
          </a:bodyPr>
          <a:lstStyle/>
          <a:p>
            <a:pPr algn="ctr">
              <a:lnSpc>
                <a:spcPts val="11275"/>
              </a:lnSpc>
            </a:pPr>
            <a:r>
              <a:rPr lang="en-US" sz="10636" dirty="0">
                <a:solidFill>
                  <a:srgbClr val="FFFFFF"/>
                </a:solidFill>
                <a:latin typeface="Yearbook Solid"/>
              </a:rPr>
              <a:t>Data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023870"/>
            <a:ext cx="16230600" cy="1520208"/>
          </a:xfrm>
          <a:prstGeom prst="rect">
            <a:avLst/>
          </a:prstGeom>
        </p:spPr>
        <p:txBody>
          <a:bodyPr lIns="0" tIns="0" rIns="0" bIns="0" rtlCol="0" anchor="t">
            <a:spAutoFit/>
          </a:bodyPr>
          <a:lstStyle/>
          <a:p>
            <a:pPr algn="ctr">
              <a:lnSpc>
                <a:spcPts val="11698"/>
              </a:lnSpc>
            </a:pPr>
            <a:r>
              <a:rPr lang="en-US" sz="11036">
                <a:solidFill>
                  <a:srgbClr val="FFFFFF"/>
                </a:solidFill>
                <a:latin typeface="Yearbook Solid"/>
              </a:rPr>
              <a:t>Data SET</a:t>
            </a:r>
          </a:p>
        </p:txBody>
      </p:sp>
      <p:sp>
        <p:nvSpPr>
          <p:cNvPr id="3" name="TextBox 3"/>
          <p:cNvSpPr txBox="1"/>
          <p:nvPr/>
        </p:nvSpPr>
        <p:spPr>
          <a:xfrm>
            <a:off x="3339430" y="3479377"/>
            <a:ext cx="11609140" cy="4916282"/>
          </a:xfrm>
          <a:prstGeom prst="rect">
            <a:avLst/>
          </a:prstGeom>
        </p:spPr>
        <p:txBody>
          <a:bodyPr lIns="0" tIns="0" rIns="0" bIns="0" rtlCol="0" anchor="t">
            <a:spAutoFit/>
          </a:bodyPr>
          <a:lstStyle/>
          <a:p>
            <a:pPr algn="ctr">
              <a:lnSpc>
                <a:spcPts val="4340"/>
              </a:lnSpc>
            </a:pPr>
            <a:r>
              <a:rPr lang="en-US" sz="3100" dirty="0">
                <a:solidFill>
                  <a:srgbClr val="E8DEC8"/>
                </a:solidFill>
                <a:latin typeface="Trebuchet MS"/>
              </a:rPr>
              <a:t>These insights can be valuable for coaches, managers, agents, scouts, and other sports industry professionals. By applying exploratory data analysis (EDA) and statistical techniques, you can uncover patterns, trends, and relationships within the data.</a:t>
            </a:r>
          </a:p>
          <a:p>
            <a:pPr algn="ctr">
              <a:lnSpc>
                <a:spcPts val="4340"/>
              </a:lnSpc>
            </a:pPr>
            <a:r>
              <a:rPr lang="en-US" sz="3100" dirty="0">
                <a:solidFill>
                  <a:srgbClr val="E8DEC8"/>
                </a:solidFill>
                <a:latin typeface="Trebuchet MS"/>
              </a:rPr>
              <a:t>The dataset is gathered from the Kaggle repository for data analysis, with data about FIFA 2021 World Cup players with detailed data.</a:t>
            </a:r>
          </a:p>
          <a:p>
            <a:pPr algn="ctr">
              <a:lnSpc>
                <a:spcPts val="4340"/>
              </a:lnSpc>
            </a:pPr>
            <a:endParaRPr lang="en-US" sz="3100" dirty="0">
              <a:solidFill>
                <a:srgbClr val="E8DEC8"/>
              </a:solidFill>
              <a:latin typeface="Trebuchet MS"/>
            </a:endParaRPr>
          </a:p>
          <a:p>
            <a:pPr marL="0" lvl="0" indent="0" algn="ctr">
              <a:lnSpc>
                <a:spcPts val="4340"/>
              </a:lnSpc>
            </a:pPr>
            <a:endParaRPr lang="en-US" sz="3100" dirty="0">
              <a:solidFill>
                <a:srgbClr val="E8DEC8"/>
              </a:solidFill>
              <a:latin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9420" y="567325"/>
            <a:ext cx="14969160" cy="9517963"/>
          </a:xfrm>
          <a:custGeom>
            <a:avLst/>
            <a:gdLst/>
            <a:ahLst/>
            <a:cxnLst/>
            <a:rect l="l" t="t" r="r" b="b"/>
            <a:pathLst>
              <a:path w="14969160" h="9517963">
                <a:moveTo>
                  <a:pt x="0" y="0"/>
                </a:moveTo>
                <a:lnTo>
                  <a:pt x="14969160" y="0"/>
                </a:lnTo>
                <a:lnTo>
                  <a:pt x="14969160" y="9517962"/>
                </a:lnTo>
                <a:lnTo>
                  <a:pt x="0" y="9517962"/>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6677799" y="1377399"/>
            <a:ext cx="1059191" cy="8795301"/>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6676818" y="965200"/>
            <a:ext cx="630461" cy="850337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57580" y="965200"/>
            <a:ext cx="16400255" cy="8087916"/>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7EB94674-79E2-AEB9-F57A-D174371C00BD}"/>
              </a:ext>
            </a:extLst>
          </p:cNvPr>
          <p:cNvPicPr>
            <a:picLocks noChangeAspect="1"/>
          </p:cNvPicPr>
          <p:nvPr/>
        </p:nvPicPr>
        <p:blipFill>
          <a:blip r:embed="rId2"/>
          <a:stretch>
            <a:fillRect/>
          </a:stretch>
        </p:blipFill>
        <p:spPr>
          <a:xfrm>
            <a:off x="1895367" y="2400355"/>
            <a:ext cx="14497269" cy="5219014"/>
          </a:xfrm>
          <a:prstGeom prst="rect">
            <a:avLst/>
          </a:prstGeom>
        </p:spPr>
      </p:pic>
    </p:spTree>
    <p:extLst>
      <p:ext uri="{BB962C8B-B14F-4D97-AF65-F5344CB8AC3E}">
        <p14:creationId xmlns:p14="http://schemas.microsoft.com/office/powerpoint/2010/main" val="2800693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BCFE9099-5765-9B55-829C-327B89AE01A6}"/>
              </a:ext>
            </a:extLst>
          </p:cNvPr>
          <p:cNvPicPr>
            <a:picLocks noChangeAspect="1"/>
          </p:cNvPicPr>
          <p:nvPr/>
        </p:nvPicPr>
        <p:blipFill rotWithShape="1">
          <a:blip r:embed="rId2"/>
          <a:srcRect b="461"/>
          <a:stretch/>
        </p:blipFill>
        <p:spPr>
          <a:xfrm>
            <a:off x="762000" y="235758"/>
            <a:ext cx="16573490" cy="9320856"/>
          </a:xfrm>
          <a:prstGeom prst="rect">
            <a:avLst/>
          </a:prstGeom>
        </p:spPr>
      </p:pic>
    </p:spTree>
    <p:extLst>
      <p:ext uri="{BB962C8B-B14F-4D97-AF65-F5344CB8AC3E}">
        <p14:creationId xmlns:p14="http://schemas.microsoft.com/office/powerpoint/2010/main" val="1707768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E511A3-3D0F-84FB-C410-656F22F89EDE}"/>
              </a:ext>
            </a:extLst>
          </p:cNvPr>
          <p:cNvPicPr>
            <a:picLocks noChangeAspect="1"/>
          </p:cNvPicPr>
          <p:nvPr/>
        </p:nvPicPr>
        <p:blipFill>
          <a:blip r:embed="rId2"/>
          <a:stretch>
            <a:fillRect/>
          </a:stretch>
        </p:blipFill>
        <p:spPr>
          <a:xfrm>
            <a:off x="1223053" y="965199"/>
            <a:ext cx="15841892" cy="8356600"/>
          </a:xfrm>
          <a:prstGeom prst="rect">
            <a:avLst/>
          </a:prstGeom>
        </p:spPr>
      </p:pic>
    </p:spTree>
    <p:extLst>
      <p:ext uri="{BB962C8B-B14F-4D97-AF65-F5344CB8AC3E}">
        <p14:creationId xmlns:p14="http://schemas.microsoft.com/office/powerpoint/2010/main" val="160556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DF0264-47BD-89B3-C658-D557BE85356A}"/>
              </a:ext>
            </a:extLst>
          </p:cNvPr>
          <p:cNvPicPr>
            <a:picLocks noChangeAspect="1"/>
          </p:cNvPicPr>
          <p:nvPr/>
        </p:nvPicPr>
        <p:blipFill>
          <a:blip r:embed="rId2"/>
          <a:stretch>
            <a:fillRect/>
          </a:stretch>
        </p:blipFill>
        <p:spPr>
          <a:xfrm>
            <a:off x="990600" y="529502"/>
            <a:ext cx="16535400" cy="9357359"/>
          </a:xfrm>
          <a:prstGeom prst="rect">
            <a:avLst/>
          </a:prstGeom>
        </p:spPr>
      </p:pic>
    </p:spTree>
    <p:extLst>
      <p:ext uri="{BB962C8B-B14F-4D97-AF65-F5344CB8AC3E}">
        <p14:creationId xmlns:p14="http://schemas.microsoft.com/office/powerpoint/2010/main" val="2573528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B7B5FE-4AD9-7B0F-5E93-C0C3BD364957}"/>
              </a:ext>
            </a:extLst>
          </p:cNvPr>
          <p:cNvPicPr>
            <a:picLocks noChangeAspect="1"/>
          </p:cNvPicPr>
          <p:nvPr/>
        </p:nvPicPr>
        <p:blipFill>
          <a:blip r:embed="rId2"/>
          <a:stretch>
            <a:fillRect/>
          </a:stretch>
        </p:blipFill>
        <p:spPr>
          <a:xfrm>
            <a:off x="1371600" y="419100"/>
            <a:ext cx="14478000" cy="9043401"/>
          </a:xfrm>
          <a:prstGeom prst="rect">
            <a:avLst/>
          </a:prstGeom>
        </p:spPr>
      </p:pic>
    </p:spTree>
    <p:extLst>
      <p:ext uri="{BB962C8B-B14F-4D97-AF65-F5344CB8AC3E}">
        <p14:creationId xmlns:p14="http://schemas.microsoft.com/office/powerpoint/2010/main" val="890197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D2DFD4-865A-DCBF-9C4C-6A85703FE746}"/>
              </a:ext>
            </a:extLst>
          </p:cNvPr>
          <p:cNvPicPr>
            <a:picLocks noChangeAspect="1"/>
          </p:cNvPicPr>
          <p:nvPr/>
        </p:nvPicPr>
        <p:blipFill>
          <a:blip r:embed="rId2"/>
          <a:stretch>
            <a:fillRect/>
          </a:stretch>
        </p:blipFill>
        <p:spPr>
          <a:xfrm>
            <a:off x="551947" y="342900"/>
            <a:ext cx="17184106" cy="8996665"/>
          </a:xfrm>
          <a:prstGeom prst="rect">
            <a:avLst/>
          </a:prstGeom>
        </p:spPr>
      </p:pic>
    </p:spTree>
    <p:extLst>
      <p:ext uri="{BB962C8B-B14F-4D97-AF65-F5344CB8AC3E}">
        <p14:creationId xmlns:p14="http://schemas.microsoft.com/office/powerpoint/2010/main" val="3581747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45271" y="660256"/>
            <a:ext cx="14101841" cy="8966489"/>
          </a:xfrm>
          <a:custGeom>
            <a:avLst/>
            <a:gdLst/>
            <a:ahLst/>
            <a:cxnLst/>
            <a:rect l="l" t="t" r="r" b="b"/>
            <a:pathLst>
              <a:path w="14101841" h="8966489">
                <a:moveTo>
                  <a:pt x="0" y="0"/>
                </a:moveTo>
                <a:lnTo>
                  <a:pt x="14101841" y="0"/>
                </a:lnTo>
                <a:lnTo>
                  <a:pt x="14101841" y="8966488"/>
                </a:lnTo>
                <a:lnTo>
                  <a:pt x="0" y="896648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41352" y="607534"/>
            <a:ext cx="13605296" cy="8650766"/>
          </a:xfrm>
          <a:custGeom>
            <a:avLst/>
            <a:gdLst/>
            <a:ahLst/>
            <a:cxnLst/>
            <a:rect l="l" t="t" r="r" b="b"/>
            <a:pathLst>
              <a:path w="13605296" h="8650766">
                <a:moveTo>
                  <a:pt x="0" y="0"/>
                </a:moveTo>
                <a:lnTo>
                  <a:pt x="13605296" y="0"/>
                </a:lnTo>
                <a:lnTo>
                  <a:pt x="13605296" y="8650766"/>
                </a:lnTo>
                <a:lnTo>
                  <a:pt x="0" y="8650766"/>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37865" y="713939"/>
            <a:ext cx="14162760" cy="9005223"/>
          </a:xfrm>
          <a:custGeom>
            <a:avLst/>
            <a:gdLst/>
            <a:ahLst/>
            <a:cxnLst/>
            <a:rect l="l" t="t" r="r" b="b"/>
            <a:pathLst>
              <a:path w="14162760" h="9005223">
                <a:moveTo>
                  <a:pt x="0" y="0"/>
                </a:moveTo>
                <a:lnTo>
                  <a:pt x="14162760" y="0"/>
                </a:lnTo>
                <a:lnTo>
                  <a:pt x="14162760" y="9005223"/>
                </a:lnTo>
                <a:lnTo>
                  <a:pt x="0" y="9005223"/>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41722" y="641659"/>
            <a:ext cx="13852114" cy="8807702"/>
          </a:xfrm>
          <a:custGeom>
            <a:avLst/>
            <a:gdLst/>
            <a:ahLst/>
            <a:cxnLst/>
            <a:rect l="l" t="t" r="r" b="b"/>
            <a:pathLst>
              <a:path w="13852114" h="8807702">
                <a:moveTo>
                  <a:pt x="0" y="0"/>
                </a:moveTo>
                <a:lnTo>
                  <a:pt x="13852114" y="0"/>
                </a:lnTo>
                <a:lnTo>
                  <a:pt x="13852114" y="8807703"/>
                </a:lnTo>
                <a:lnTo>
                  <a:pt x="0" y="8807703"/>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75760" y="522076"/>
            <a:ext cx="14536479" cy="9242848"/>
          </a:xfrm>
          <a:custGeom>
            <a:avLst/>
            <a:gdLst/>
            <a:ahLst/>
            <a:cxnLst/>
            <a:rect l="l" t="t" r="r" b="b"/>
            <a:pathLst>
              <a:path w="14536479" h="9242848">
                <a:moveTo>
                  <a:pt x="0" y="0"/>
                </a:moveTo>
                <a:lnTo>
                  <a:pt x="14536480" y="0"/>
                </a:lnTo>
                <a:lnTo>
                  <a:pt x="14536480" y="9242848"/>
                </a:lnTo>
                <a:lnTo>
                  <a:pt x="0" y="924284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217" y="-141004"/>
            <a:ext cx="10759770" cy="10784131"/>
            <a:chOff x="0" y="0"/>
            <a:chExt cx="2833849" cy="2840265"/>
          </a:xfrm>
        </p:grpSpPr>
        <p:sp>
          <p:nvSpPr>
            <p:cNvPr id="3" name="Freeform 3"/>
            <p:cNvSpPr/>
            <p:nvPr/>
          </p:nvSpPr>
          <p:spPr>
            <a:xfrm>
              <a:off x="0" y="0"/>
              <a:ext cx="2833849" cy="2840265"/>
            </a:xfrm>
            <a:custGeom>
              <a:avLst/>
              <a:gdLst/>
              <a:ahLst/>
              <a:cxnLst/>
              <a:rect l="l" t="t" r="r" b="b"/>
              <a:pathLst>
                <a:path w="2833849" h="2840265">
                  <a:moveTo>
                    <a:pt x="0" y="0"/>
                  </a:moveTo>
                  <a:lnTo>
                    <a:pt x="2833849" y="0"/>
                  </a:lnTo>
                  <a:lnTo>
                    <a:pt x="2833849" y="2840265"/>
                  </a:lnTo>
                  <a:lnTo>
                    <a:pt x="0" y="2840265"/>
                  </a:lnTo>
                  <a:close/>
                </a:path>
              </a:pathLst>
            </a:custGeom>
            <a:solidFill>
              <a:srgbClr val="140F0D"/>
            </a:solidFill>
          </p:spPr>
          <p:txBody>
            <a:bodyPr/>
            <a:lstStyle/>
            <a:p>
              <a:endParaRPr lang="en-US"/>
            </a:p>
          </p:txBody>
        </p:sp>
        <p:sp>
          <p:nvSpPr>
            <p:cNvPr id="4" name="TextBox 4"/>
            <p:cNvSpPr txBox="1"/>
            <p:nvPr/>
          </p:nvSpPr>
          <p:spPr>
            <a:xfrm>
              <a:off x="0" y="-38100"/>
              <a:ext cx="2833849" cy="2878365"/>
            </a:xfrm>
            <a:prstGeom prst="rect">
              <a:avLst/>
            </a:prstGeom>
          </p:spPr>
          <p:txBody>
            <a:bodyPr lIns="50800" tIns="50800" rIns="50800" bIns="50800" rtlCol="0" anchor="ctr"/>
            <a:lstStyle/>
            <a:p>
              <a:pPr algn="ctr">
                <a:lnSpc>
                  <a:spcPts val="3376"/>
                </a:lnSpc>
              </a:pPr>
              <a:endParaRPr/>
            </a:p>
          </p:txBody>
        </p:sp>
      </p:grpSp>
      <p:sp>
        <p:nvSpPr>
          <p:cNvPr id="5" name="Freeform 5"/>
          <p:cNvSpPr/>
          <p:nvPr/>
        </p:nvSpPr>
        <p:spPr>
          <a:xfrm>
            <a:off x="9595964" y="-154741"/>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2">
              <a:alphaModFix amt="42000"/>
            </a:blip>
            <a:stretch>
              <a:fillRect/>
            </a:stretch>
          </a:blipFill>
        </p:spPr>
        <p:txBody>
          <a:bodyPr/>
          <a:lstStyle/>
          <a:p>
            <a:endParaRPr lang="en-US"/>
          </a:p>
        </p:txBody>
      </p:sp>
      <p:grpSp>
        <p:nvGrpSpPr>
          <p:cNvPr id="6" name="Group 6"/>
          <p:cNvGrpSpPr/>
          <p:nvPr/>
        </p:nvGrpSpPr>
        <p:grpSpPr>
          <a:xfrm>
            <a:off x="11645985" y="3852736"/>
            <a:ext cx="2176683" cy="2815321"/>
            <a:chOff x="0" y="0"/>
            <a:chExt cx="1268338" cy="1640468"/>
          </a:xfrm>
        </p:grpSpPr>
        <p:sp>
          <p:nvSpPr>
            <p:cNvPr id="7" name="Freeform 7"/>
            <p:cNvSpPr/>
            <p:nvPr/>
          </p:nvSpPr>
          <p:spPr>
            <a:xfrm>
              <a:off x="0" y="0"/>
              <a:ext cx="1268338" cy="1640468"/>
            </a:xfrm>
            <a:custGeom>
              <a:avLst/>
              <a:gdLst/>
              <a:ahLst/>
              <a:cxnLst/>
              <a:rect l="l" t="t" r="r" b="b"/>
              <a:pathLst>
                <a:path w="1268338" h="1640468">
                  <a:moveTo>
                    <a:pt x="149384" y="0"/>
                  </a:moveTo>
                  <a:lnTo>
                    <a:pt x="1118954" y="0"/>
                  </a:lnTo>
                  <a:cubicBezTo>
                    <a:pt x="1158573" y="0"/>
                    <a:pt x="1196570" y="15739"/>
                    <a:pt x="1224585" y="43753"/>
                  </a:cubicBezTo>
                  <a:cubicBezTo>
                    <a:pt x="1252599" y="71768"/>
                    <a:pt x="1268338" y="109765"/>
                    <a:pt x="1268338" y="149384"/>
                  </a:cubicBezTo>
                  <a:lnTo>
                    <a:pt x="1268338" y="1491084"/>
                  </a:lnTo>
                  <a:cubicBezTo>
                    <a:pt x="1268338" y="1530703"/>
                    <a:pt x="1252599" y="1568699"/>
                    <a:pt x="1224585" y="1596714"/>
                  </a:cubicBezTo>
                  <a:cubicBezTo>
                    <a:pt x="1196570" y="1624729"/>
                    <a:pt x="1158573" y="1640468"/>
                    <a:pt x="1118954" y="1640468"/>
                  </a:cubicBezTo>
                  <a:lnTo>
                    <a:pt x="149384" y="1640468"/>
                  </a:lnTo>
                  <a:cubicBezTo>
                    <a:pt x="109765" y="1640468"/>
                    <a:pt x="71768" y="1624729"/>
                    <a:pt x="43753" y="1596714"/>
                  </a:cubicBezTo>
                  <a:cubicBezTo>
                    <a:pt x="15739" y="1568699"/>
                    <a:pt x="0" y="1530703"/>
                    <a:pt x="0" y="1491084"/>
                  </a:cubicBezTo>
                  <a:lnTo>
                    <a:pt x="0" y="149384"/>
                  </a:lnTo>
                  <a:cubicBezTo>
                    <a:pt x="0" y="109765"/>
                    <a:pt x="15739" y="71768"/>
                    <a:pt x="43753" y="43753"/>
                  </a:cubicBezTo>
                  <a:cubicBezTo>
                    <a:pt x="71768" y="15739"/>
                    <a:pt x="109765" y="0"/>
                    <a:pt x="149384" y="0"/>
                  </a:cubicBezTo>
                  <a:close/>
                </a:path>
              </a:pathLst>
            </a:custGeom>
            <a:solidFill>
              <a:srgbClr val="F5CAB3"/>
            </a:solidFill>
          </p:spPr>
          <p:txBody>
            <a:bodyPr/>
            <a:lstStyle/>
            <a:p>
              <a:endParaRPr lang="en-US"/>
            </a:p>
          </p:txBody>
        </p:sp>
        <p:sp>
          <p:nvSpPr>
            <p:cNvPr id="8" name="TextBox 8"/>
            <p:cNvSpPr txBox="1"/>
            <p:nvPr/>
          </p:nvSpPr>
          <p:spPr>
            <a:xfrm>
              <a:off x="0" y="-38100"/>
              <a:ext cx="1268338" cy="1678568"/>
            </a:xfrm>
            <a:prstGeom prst="rect">
              <a:avLst/>
            </a:prstGeom>
          </p:spPr>
          <p:txBody>
            <a:bodyPr lIns="22961" tIns="22961" rIns="22961" bIns="22961" rtlCol="0" anchor="ctr"/>
            <a:lstStyle/>
            <a:p>
              <a:pPr algn="ctr">
                <a:lnSpc>
                  <a:spcPts val="2660"/>
                </a:lnSpc>
              </a:pPr>
              <a:endParaRPr/>
            </a:p>
          </p:txBody>
        </p:sp>
      </p:grpSp>
      <p:sp>
        <p:nvSpPr>
          <p:cNvPr id="9" name="Freeform 9"/>
          <p:cNvSpPr/>
          <p:nvPr/>
        </p:nvSpPr>
        <p:spPr>
          <a:xfrm>
            <a:off x="11712446" y="4066966"/>
            <a:ext cx="2110223" cy="2343217"/>
          </a:xfrm>
          <a:custGeom>
            <a:avLst/>
            <a:gdLst/>
            <a:ahLst/>
            <a:cxnLst/>
            <a:rect l="l" t="t" r="r" b="b"/>
            <a:pathLst>
              <a:path w="2110223" h="2343217">
                <a:moveTo>
                  <a:pt x="0" y="0"/>
                </a:moveTo>
                <a:lnTo>
                  <a:pt x="2110223" y="0"/>
                </a:lnTo>
                <a:lnTo>
                  <a:pt x="2110223" y="2343217"/>
                </a:lnTo>
                <a:lnTo>
                  <a:pt x="0" y="2343217"/>
                </a:lnTo>
                <a:lnTo>
                  <a:pt x="0" y="0"/>
                </a:lnTo>
                <a:close/>
              </a:path>
            </a:pathLst>
          </a:custGeom>
          <a:blipFill>
            <a:blip r:embed="rId3"/>
            <a:stretch>
              <a:fillRect/>
            </a:stretch>
          </a:blipFill>
        </p:spPr>
        <p:txBody>
          <a:bodyPr/>
          <a:lstStyle/>
          <a:p>
            <a:endParaRPr lang="en-US"/>
          </a:p>
        </p:txBody>
      </p:sp>
      <p:grpSp>
        <p:nvGrpSpPr>
          <p:cNvPr id="10" name="Group 10"/>
          <p:cNvGrpSpPr/>
          <p:nvPr/>
        </p:nvGrpSpPr>
        <p:grpSpPr>
          <a:xfrm>
            <a:off x="9985943" y="6945395"/>
            <a:ext cx="2858925" cy="3697732"/>
            <a:chOff x="0" y="0"/>
            <a:chExt cx="1268338" cy="1640468"/>
          </a:xfrm>
        </p:grpSpPr>
        <p:sp>
          <p:nvSpPr>
            <p:cNvPr id="11" name="Freeform 11"/>
            <p:cNvSpPr/>
            <p:nvPr/>
          </p:nvSpPr>
          <p:spPr>
            <a:xfrm>
              <a:off x="0" y="0"/>
              <a:ext cx="1268338" cy="1640468"/>
            </a:xfrm>
            <a:custGeom>
              <a:avLst/>
              <a:gdLst/>
              <a:ahLst/>
              <a:cxnLst/>
              <a:rect l="l" t="t" r="r" b="b"/>
              <a:pathLst>
                <a:path w="1268338" h="1640468">
                  <a:moveTo>
                    <a:pt x="81239" y="0"/>
                  </a:moveTo>
                  <a:lnTo>
                    <a:pt x="1187098" y="0"/>
                  </a:lnTo>
                  <a:cubicBezTo>
                    <a:pt x="1208645" y="0"/>
                    <a:pt x="1229308" y="8559"/>
                    <a:pt x="1244544" y="23794"/>
                  </a:cubicBezTo>
                  <a:cubicBezTo>
                    <a:pt x="1259779" y="39030"/>
                    <a:pt x="1268338" y="59693"/>
                    <a:pt x="1268338" y="81239"/>
                  </a:cubicBezTo>
                  <a:lnTo>
                    <a:pt x="1268338" y="1559228"/>
                  </a:lnTo>
                  <a:cubicBezTo>
                    <a:pt x="1268338" y="1604096"/>
                    <a:pt x="1231966" y="1640468"/>
                    <a:pt x="1187098" y="1640468"/>
                  </a:cubicBezTo>
                  <a:lnTo>
                    <a:pt x="81239" y="1640468"/>
                  </a:lnTo>
                  <a:cubicBezTo>
                    <a:pt x="36372" y="1640468"/>
                    <a:pt x="0" y="1604096"/>
                    <a:pt x="0" y="1559228"/>
                  </a:cubicBezTo>
                  <a:lnTo>
                    <a:pt x="0" y="81239"/>
                  </a:lnTo>
                  <a:cubicBezTo>
                    <a:pt x="0" y="36372"/>
                    <a:pt x="36372" y="0"/>
                    <a:pt x="81239" y="0"/>
                  </a:cubicBezTo>
                  <a:close/>
                </a:path>
              </a:pathLst>
            </a:custGeom>
            <a:solidFill>
              <a:srgbClr val="4D3699"/>
            </a:solidFill>
          </p:spPr>
          <p:txBody>
            <a:bodyPr/>
            <a:lstStyle/>
            <a:p>
              <a:endParaRPr lang="en-US"/>
            </a:p>
          </p:txBody>
        </p:sp>
        <p:sp>
          <p:nvSpPr>
            <p:cNvPr id="12" name="TextBox 12"/>
            <p:cNvSpPr txBox="1"/>
            <p:nvPr/>
          </p:nvSpPr>
          <p:spPr>
            <a:xfrm>
              <a:off x="0" y="-38100"/>
              <a:ext cx="1268338" cy="1678568"/>
            </a:xfrm>
            <a:prstGeom prst="rect">
              <a:avLst/>
            </a:prstGeom>
          </p:spPr>
          <p:txBody>
            <a:bodyPr lIns="30158" tIns="30158" rIns="30158" bIns="30158" rtlCol="0" anchor="ctr"/>
            <a:lstStyle/>
            <a:p>
              <a:pPr algn="ctr">
                <a:lnSpc>
                  <a:spcPts val="2659"/>
                </a:lnSpc>
              </a:pPr>
              <a:endParaRPr/>
            </a:p>
          </p:txBody>
        </p:sp>
      </p:grpSp>
      <p:sp>
        <p:nvSpPr>
          <p:cNvPr id="13" name="Freeform 13"/>
          <p:cNvSpPr/>
          <p:nvPr/>
        </p:nvSpPr>
        <p:spPr>
          <a:xfrm>
            <a:off x="10131463" y="7583846"/>
            <a:ext cx="2700740" cy="2624228"/>
          </a:xfrm>
          <a:custGeom>
            <a:avLst/>
            <a:gdLst/>
            <a:ahLst/>
            <a:cxnLst/>
            <a:rect l="l" t="t" r="r" b="b"/>
            <a:pathLst>
              <a:path w="2700740" h="2624228">
                <a:moveTo>
                  <a:pt x="0" y="0"/>
                </a:moveTo>
                <a:lnTo>
                  <a:pt x="2700740" y="0"/>
                </a:lnTo>
                <a:lnTo>
                  <a:pt x="2700740" y="2624228"/>
                </a:lnTo>
                <a:lnTo>
                  <a:pt x="0" y="2624228"/>
                </a:lnTo>
                <a:lnTo>
                  <a:pt x="0" y="0"/>
                </a:lnTo>
                <a:close/>
              </a:path>
            </a:pathLst>
          </a:custGeom>
          <a:blipFill>
            <a:blip r:embed="rId4"/>
            <a:stretch>
              <a:fillRect/>
            </a:stretch>
          </a:blipFill>
        </p:spPr>
        <p:txBody>
          <a:bodyPr/>
          <a:lstStyle/>
          <a:p>
            <a:endParaRPr lang="en-US"/>
          </a:p>
        </p:txBody>
      </p:sp>
      <p:grpSp>
        <p:nvGrpSpPr>
          <p:cNvPr id="14" name="Group 14"/>
          <p:cNvGrpSpPr/>
          <p:nvPr/>
        </p:nvGrpSpPr>
        <p:grpSpPr>
          <a:xfrm>
            <a:off x="-695098" y="-356127"/>
            <a:ext cx="10326315" cy="10999254"/>
            <a:chOff x="0" y="0"/>
            <a:chExt cx="2719688" cy="2896923"/>
          </a:xfrm>
        </p:grpSpPr>
        <p:sp>
          <p:nvSpPr>
            <p:cNvPr id="15" name="Freeform 15"/>
            <p:cNvSpPr/>
            <p:nvPr/>
          </p:nvSpPr>
          <p:spPr>
            <a:xfrm>
              <a:off x="0" y="0"/>
              <a:ext cx="2719688" cy="2896923"/>
            </a:xfrm>
            <a:custGeom>
              <a:avLst/>
              <a:gdLst/>
              <a:ahLst/>
              <a:cxnLst/>
              <a:rect l="l" t="t" r="r" b="b"/>
              <a:pathLst>
                <a:path w="2719688" h="2896923">
                  <a:moveTo>
                    <a:pt x="0" y="0"/>
                  </a:moveTo>
                  <a:lnTo>
                    <a:pt x="2719688" y="0"/>
                  </a:lnTo>
                  <a:lnTo>
                    <a:pt x="2719688" y="2896923"/>
                  </a:lnTo>
                  <a:lnTo>
                    <a:pt x="0" y="2896923"/>
                  </a:lnTo>
                  <a:close/>
                </a:path>
              </a:pathLst>
            </a:custGeom>
            <a:solidFill>
              <a:srgbClr val="ECE4DB"/>
            </a:solidFill>
          </p:spPr>
          <p:txBody>
            <a:bodyPr/>
            <a:lstStyle/>
            <a:p>
              <a:endParaRPr lang="en-US"/>
            </a:p>
          </p:txBody>
        </p:sp>
        <p:sp>
          <p:nvSpPr>
            <p:cNvPr id="16" name="TextBox 16"/>
            <p:cNvSpPr txBox="1"/>
            <p:nvPr/>
          </p:nvSpPr>
          <p:spPr>
            <a:xfrm>
              <a:off x="0" y="-38100"/>
              <a:ext cx="2719688" cy="2935023"/>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3822669" y="6804988"/>
            <a:ext cx="4038366" cy="5223221"/>
            <a:chOff x="0" y="0"/>
            <a:chExt cx="1268338" cy="1640468"/>
          </a:xfrm>
        </p:grpSpPr>
        <p:sp>
          <p:nvSpPr>
            <p:cNvPr id="18" name="Freeform 18"/>
            <p:cNvSpPr/>
            <p:nvPr/>
          </p:nvSpPr>
          <p:spPr>
            <a:xfrm>
              <a:off x="0" y="0"/>
              <a:ext cx="1268338" cy="1640468"/>
            </a:xfrm>
            <a:custGeom>
              <a:avLst/>
              <a:gdLst/>
              <a:ahLst/>
              <a:cxnLst/>
              <a:rect l="l" t="t" r="r" b="b"/>
              <a:pathLst>
                <a:path w="1268338" h="1640468">
                  <a:moveTo>
                    <a:pt x="82435" y="0"/>
                  </a:moveTo>
                  <a:lnTo>
                    <a:pt x="1185903" y="0"/>
                  </a:lnTo>
                  <a:cubicBezTo>
                    <a:pt x="1207766" y="0"/>
                    <a:pt x="1228734" y="8685"/>
                    <a:pt x="1244193" y="24145"/>
                  </a:cubicBezTo>
                  <a:cubicBezTo>
                    <a:pt x="1259653" y="39604"/>
                    <a:pt x="1268338" y="60572"/>
                    <a:pt x="1268338" y="82435"/>
                  </a:cubicBezTo>
                  <a:lnTo>
                    <a:pt x="1268338" y="1558033"/>
                  </a:lnTo>
                  <a:cubicBezTo>
                    <a:pt x="1268338" y="1579896"/>
                    <a:pt x="1259653" y="1600864"/>
                    <a:pt x="1244193" y="1616323"/>
                  </a:cubicBezTo>
                  <a:cubicBezTo>
                    <a:pt x="1228734" y="1631783"/>
                    <a:pt x="1207766" y="1640468"/>
                    <a:pt x="1185903" y="1640468"/>
                  </a:cubicBezTo>
                  <a:lnTo>
                    <a:pt x="82435" y="1640468"/>
                  </a:lnTo>
                  <a:cubicBezTo>
                    <a:pt x="60572" y="1640468"/>
                    <a:pt x="39604" y="1631783"/>
                    <a:pt x="24145" y="1616323"/>
                  </a:cubicBezTo>
                  <a:cubicBezTo>
                    <a:pt x="8685" y="1600864"/>
                    <a:pt x="0" y="1579896"/>
                    <a:pt x="0" y="1558033"/>
                  </a:cubicBezTo>
                  <a:lnTo>
                    <a:pt x="0" y="82435"/>
                  </a:lnTo>
                  <a:cubicBezTo>
                    <a:pt x="0" y="60572"/>
                    <a:pt x="8685" y="39604"/>
                    <a:pt x="24145" y="24145"/>
                  </a:cubicBezTo>
                  <a:cubicBezTo>
                    <a:pt x="39604" y="8685"/>
                    <a:pt x="60572" y="0"/>
                    <a:pt x="82435" y="0"/>
                  </a:cubicBezTo>
                  <a:close/>
                </a:path>
              </a:pathLst>
            </a:custGeom>
            <a:solidFill>
              <a:srgbClr val="D0CCD2"/>
            </a:solidFill>
          </p:spPr>
          <p:txBody>
            <a:bodyPr/>
            <a:lstStyle/>
            <a:p>
              <a:endParaRPr lang="en-US"/>
            </a:p>
          </p:txBody>
        </p:sp>
        <p:sp>
          <p:nvSpPr>
            <p:cNvPr id="19" name="TextBox 19"/>
            <p:cNvSpPr txBox="1"/>
            <p:nvPr/>
          </p:nvSpPr>
          <p:spPr>
            <a:xfrm>
              <a:off x="0" y="-38100"/>
              <a:ext cx="1268338" cy="1678568"/>
            </a:xfrm>
            <a:prstGeom prst="rect">
              <a:avLst/>
            </a:prstGeom>
          </p:spPr>
          <p:txBody>
            <a:bodyPr lIns="42600" tIns="42600" rIns="42600" bIns="42600" rtlCol="0" anchor="ctr"/>
            <a:lstStyle/>
            <a:p>
              <a:pPr algn="ctr">
                <a:lnSpc>
                  <a:spcPts val="2660"/>
                </a:lnSpc>
              </a:pPr>
              <a:endParaRPr/>
            </a:p>
          </p:txBody>
        </p:sp>
      </p:grpSp>
      <p:sp>
        <p:nvSpPr>
          <p:cNvPr id="20" name="Freeform 20"/>
          <p:cNvSpPr/>
          <p:nvPr/>
        </p:nvSpPr>
        <p:spPr>
          <a:xfrm>
            <a:off x="13998371" y="7434494"/>
            <a:ext cx="4034124" cy="3941692"/>
          </a:xfrm>
          <a:custGeom>
            <a:avLst/>
            <a:gdLst/>
            <a:ahLst/>
            <a:cxnLst/>
            <a:rect l="l" t="t" r="r" b="b"/>
            <a:pathLst>
              <a:path w="4034124" h="3941692">
                <a:moveTo>
                  <a:pt x="0" y="0"/>
                </a:moveTo>
                <a:lnTo>
                  <a:pt x="4034124" y="0"/>
                </a:lnTo>
                <a:lnTo>
                  <a:pt x="4034124" y="3941692"/>
                </a:lnTo>
                <a:lnTo>
                  <a:pt x="0" y="3941692"/>
                </a:lnTo>
                <a:lnTo>
                  <a:pt x="0" y="0"/>
                </a:lnTo>
                <a:close/>
              </a:path>
            </a:pathLst>
          </a:custGeom>
          <a:blipFill>
            <a:blip r:embed="rId5"/>
            <a:stretch>
              <a:fillRect/>
            </a:stretch>
          </a:blipFill>
        </p:spPr>
        <p:txBody>
          <a:bodyPr/>
          <a:lstStyle/>
          <a:p>
            <a:endParaRPr lang="en-US"/>
          </a:p>
        </p:txBody>
      </p:sp>
      <p:grpSp>
        <p:nvGrpSpPr>
          <p:cNvPr id="21" name="Group 21"/>
          <p:cNvGrpSpPr/>
          <p:nvPr/>
        </p:nvGrpSpPr>
        <p:grpSpPr>
          <a:xfrm>
            <a:off x="14890250" y="2437462"/>
            <a:ext cx="3142245" cy="4064178"/>
            <a:chOff x="0" y="0"/>
            <a:chExt cx="1268338" cy="1640468"/>
          </a:xfrm>
        </p:grpSpPr>
        <p:sp>
          <p:nvSpPr>
            <p:cNvPr id="22" name="Freeform 22"/>
            <p:cNvSpPr/>
            <p:nvPr/>
          </p:nvSpPr>
          <p:spPr>
            <a:xfrm>
              <a:off x="0" y="0"/>
              <a:ext cx="1268338" cy="1640468"/>
            </a:xfrm>
            <a:custGeom>
              <a:avLst/>
              <a:gdLst/>
              <a:ahLst/>
              <a:cxnLst/>
              <a:rect l="l" t="t" r="r" b="b"/>
              <a:pathLst>
                <a:path w="1268338" h="1640468">
                  <a:moveTo>
                    <a:pt x="81306" y="0"/>
                  </a:moveTo>
                  <a:lnTo>
                    <a:pt x="1187032" y="0"/>
                  </a:lnTo>
                  <a:cubicBezTo>
                    <a:pt x="1208596" y="0"/>
                    <a:pt x="1229276" y="8566"/>
                    <a:pt x="1244524" y="23814"/>
                  </a:cubicBezTo>
                  <a:cubicBezTo>
                    <a:pt x="1259772" y="39062"/>
                    <a:pt x="1268338" y="59742"/>
                    <a:pt x="1268338" y="81306"/>
                  </a:cubicBezTo>
                  <a:lnTo>
                    <a:pt x="1268338" y="1559162"/>
                  </a:lnTo>
                  <a:cubicBezTo>
                    <a:pt x="1268338" y="1604066"/>
                    <a:pt x="1231936" y="1640468"/>
                    <a:pt x="1187032" y="1640468"/>
                  </a:cubicBezTo>
                  <a:lnTo>
                    <a:pt x="81306" y="1640468"/>
                  </a:lnTo>
                  <a:cubicBezTo>
                    <a:pt x="36402" y="1640468"/>
                    <a:pt x="0" y="1604066"/>
                    <a:pt x="0" y="1559162"/>
                  </a:cubicBezTo>
                  <a:lnTo>
                    <a:pt x="0" y="81306"/>
                  </a:lnTo>
                  <a:cubicBezTo>
                    <a:pt x="0" y="36402"/>
                    <a:pt x="36402" y="0"/>
                    <a:pt x="81306" y="0"/>
                  </a:cubicBezTo>
                  <a:close/>
                </a:path>
              </a:pathLst>
            </a:custGeom>
            <a:solidFill>
              <a:srgbClr val="A84F26"/>
            </a:solidFill>
          </p:spPr>
          <p:txBody>
            <a:bodyPr/>
            <a:lstStyle/>
            <a:p>
              <a:endParaRPr lang="en-US"/>
            </a:p>
          </p:txBody>
        </p:sp>
        <p:sp>
          <p:nvSpPr>
            <p:cNvPr id="23" name="TextBox 23"/>
            <p:cNvSpPr txBox="1"/>
            <p:nvPr/>
          </p:nvSpPr>
          <p:spPr>
            <a:xfrm>
              <a:off x="0" y="-38100"/>
              <a:ext cx="1268338" cy="1678568"/>
            </a:xfrm>
            <a:prstGeom prst="rect">
              <a:avLst/>
            </a:prstGeom>
          </p:spPr>
          <p:txBody>
            <a:bodyPr lIns="33147" tIns="33147" rIns="33147" bIns="33147" rtlCol="0" anchor="ctr"/>
            <a:lstStyle/>
            <a:p>
              <a:pPr algn="ctr">
                <a:lnSpc>
                  <a:spcPts val="2660"/>
                </a:lnSpc>
              </a:pPr>
              <a:endParaRPr/>
            </a:p>
          </p:txBody>
        </p:sp>
      </p:grpSp>
      <p:sp>
        <p:nvSpPr>
          <p:cNvPr id="24" name="Freeform 24"/>
          <p:cNvSpPr/>
          <p:nvPr/>
        </p:nvSpPr>
        <p:spPr>
          <a:xfrm>
            <a:off x="14997886" y="2983102"/>
            <a:ext cx="2926972" cy="2972897"/>
          </a:xfrm>
          <a:custGeom>
            <a:avLst/>
            <a:gdLst/>
            <a:ahLst/>
            <a:cxnLst/>
            <a:rect l="l" t="t" r="r" b="b"/>
            <a:pathLst>
              <a:path w="2926972" h="2972897">
                <a:moveTo>
                  <a:pt x="0" y="0"/>
                </a:moveTo>
                <a:lnTo>
                  <a:pt x="2926972" y="0"/>
                </a:lnTo>
                <a:lnTo>
                  <a:pt x="2926972" y="2972897"/>
                </a:lnTo>
                <a:lnTo>
                  <a:pt x="0" y="2972897"/>
                </a:lnTo>
                <a:lnTo>
                  <a:pt x="0" y="0"/>
                </a:lnTo>
                <a:close/>
              </a:path>
            </a:pathLst>
          </a:custGeom>
          <a:blipFill>
            <a:blip r:embed="rId6"/>
            <a:stretch>
              <a:fillRect/>
            </a:stretch>
          </a:blipFill>
        </p:spPr>
        <p:txBody>
          <a:bodyPr/>
          <a:lstStyle/>
          <a:p>
            <a:endParaRPr lang="en-US"/>
          </a:p>
        </p:txBody>
      </p:sp>
      <p:grpSp>
        <p:nvGrpSpPr>
          <p:cNvPr id="25" name="Group 25"/>
          <p:cNvGrpSpPr/>
          <p:nvPr/>
        </p:nvGrpSpPr>
        <p:grpSpPr>
          <a:xfrm>
            <a:off x="10168209" y="-234382"/>
            <a:ext cx="2794952" cy="3614990"/>
            <a:chOff x="0" y="0"/>
            <a:chExt cx="1268338" cy="1640468"/>
          </a:xfrm>
        </p:grpSpPr>
        <p:sp>
          <p:nvSpPr>
            <p:cNvPr id="26" name="Freeform 26"/>
            <p:cNvSpPr/>
            <p:nvPr/>
          </p:nvSpPr>
          <p:spPr>
            <a:xfrm>
              <a:off x="0" y="0"/>
              <a:ext cx="1268338" cy="1640468"/>
            </a:xfrm>
            <a:custGeom>
              <a:avLst/>
              <a:gdLst/>
              <a:ahLst/>
              <a:cxnLst/>
              <a:rect l="l" t="t" r="r" b="b"/>
              <a:pathLst>
                <a:path w="1268338" h="1640468">
                  <a:moveTo>
                    <a:pt x="83099" y="0"/>
                  </a:moveTo>
                  <a:lnTo>
                    <a:pt x="1185239" y="0"/>
                  </a:lnTo>
                  <a:cubicBezTo>
                    <a:pt x="1207278" y="0"/>
                    <a:pt x="1228415" y="8755"/>
                    <a:pt x="1243999" y="24339"/>
                  </a:cubicBezTo>
                  <a:cubicBezTo>
                    <a:pt x="1259583" y="39923"/>
                    <a:pt x="1268338" y="61060"/>
                    <a:pt x="1268338" y="83099"/>
                  </a:cubicBezTo>
                  <a:lnTo>
                    <a:pt x="1268338" y="1557369"/>
                  </a:lnTo>
                  <a:cubicBezTo>
                    <a:pt x="1268338" y="1579408"/>
                    <a:pt x="1259583" y="1600545"/>
                    <a:pt x="1243999" y="1616129"/>
                  </a:cubicBezTo>
                  <a:cubicBezTo>
                    <a:pt x="1228415" y="1631713"/>
                    <a:pt x="1207278" y="1640468"/>
                    <a:pt x="1185239" y="1640468"/>
                  </a:cubicBezTo>
                  <a:lnTo>
                    <a:pt x="83099" y="1640468"/>
                  </a:lnTo>
                  <a:cubicBezTo>
                    <a:pt x="61060" y="1640468"/>
                    <a:pt x="39923" y="1631713"/>
                    <a:pt x="24339" y="1616129"/>
                  </a:cubicBezTo>
                  <a:cubicBezTo>
                    <a:pt x="8755" y="1600545"/>
                    <a:pt x="0" y="1579408"/>
                    <a:pt x="0" y="1557369"/>
                  </a:cubicBezTo>
                  <a:lnTo>
                    <a:pt x="0" y="83099"/>
                  </a:lnTo>
                  <a:cubicBezTo>
                    <a:pt x="0" y="61060"/>
                    <a:pt x="8755" y="39923"/>
                    <a:pt x="24339" y="24339"/>
                  </a:cubicBezTo>
                  <a:cubicBezTo>
                    <a:pt x="39923" y="8755"/>
                    <a:pt x="61060" y="0"/>
                    <a:pt x="83099" y="0"/>
                  </a:cubicBezTo>
                  <a:close/>
                </a:path>
              </a:pathLst>
            </a:custGeom>
            <a:solidFill>
              <a:srgbClr val="A82447"/>
            </a:solidFill>
          </p:spPr>
          <p:txBody>
            <a:bodyPr/>
            <a:lstStyle/>
            <a:p>
              <a:endParaRPr lang="en-US"/>
            </a:p>
          </p:txBody>
        </p:sp>
        <p:sp>
          <p:nvSpPr>
            <p:cNvPr id="27" name="TextBox 27"/>
            <p:cNvSpPr txBox="1"/>
            <p:nvPr/>
          </p:nvSpPr>
          <p:spPr>
            <a:xfrm>
              <a:off x="0" y="-38100"/>
              <a:ext cx="1268338" cy="1678568"/>
            </a:xfrm>
            <a:prstGeom prst="rect">
              <a:avLst/>
            </a:prstGeom>
          </p:spPr>
          <p:txBody>
            <a:bodyPr lIns="29483" tIns="29483" rIns="29483" bIns="29483" rtlCol="0" anchor="ctr"/>
            <a:lstStyle/>
            <a:p>
              <a:pPr algn="ctr">
                <a:lnSpc>
                  <a:spcPts val="2659"/>
                </a:lnSpc>
              </a:pPr>
              <a:endParaRPr/>
            </a:p>
          </p:txBody>
        </p:sp>
      </p:grpSp>
      <p:sp>
        <p:nvSpPr>
          <p:cNvPr id="28" name="Freeform 28"/>
          <p:cNvSpPr/>
          <p:nvPr/>
        </p:nvSpPr>
        <p:spPr>
          <a:xfrm>
            <a:off x="10218518" y="45878"/>
            <a:ext cx="2694335" cy="2799309"/>
          </a:xfrm>
          <a:custGeom>
            <a:avLst/>
            <a:gdLst/>
            <a:ahLst/>
            <a:cxnLst/>
            <a:rect l="l" t="t" r="r" b="b"/>
            <a:pathLst>
              <a:path w="2694335" h="2799309">
                <a:moveTo>
                  <a:pt x="0" y="0"/>
                </a:moveTo>
                <a:lnTo>
                  <a:pt x="2694335" y="0"/>
                </a:lnTo>
                <a:lnTo>
                  <a:pt x="2694335" y="2799310"/>
                </a:lnTo>
                <a:lnTo>
                  <a:pt x="0" y="2799310"/>
                </a:lnTo>
                <a:lnTo>
                  <a:pt x="0" y="0"/>
                </a:lnTo>
                <a:close/>
              </a:path>
            </a:pathLst>
          </a:custGeom>
          <a:blipFill>
            <a:blip r:embed="rId7"/>
            <a:stretch>
              <a:fillRect/>
            </a:stretch>
          </a:blipFill>
        </p:spPr>
        <p:txBody>
          <a:bodyPr/>
          <a:lstStyle/>
          <a:p>
            <a:endParaRPr lang="en-US"/>
          </a:p>
        </p:txBody>
      </p:sp>
      <p:grpSp>
        <p:nvGrpSpPr>
          <p:cNvPr id="29" name="Group 29"/>
          <p:cNvGrpSpPr/>
          <p:nvPr/>
        </p:nvGrpSpPr>
        <p:grpSpPr>
          <a:xfrm>
            <a:off x="13839462" y="-1623736"/>
            <a:ext cx="2905404" cy="3757848"/>
            <a:chOff x="0" y="0"/>
            <a:chExt cx="1268338" cy="1640468"/>
          </a:xfrm>
        </p:grpSpPr>
        <p:sp>
          <p:nvSpPr>
            <p:cNvPr id="30" name="Freeform 30"/>
            <p:cNvSpPr/>
            <p:nvPr/>
          </p:nvSpPr>
          <p:spPr>
            <a:xfrm>
              <a:off x="0" y="0"/>
              <a:ext cx="1268338" cy="1640468"/>
            </a:xfrm>
            <a:custGeom>
              <a:avLst/>
              <a:gdLst/>
              <a:ahLst/>
              <a:cxnLst/>
              <a:rect l="l" t="t" r="r" b="b"/>
              <a:pathLst>
                <a:path w="1268338" h="1640468">
                  <a:moveTo>
                    <a:pt x="82605" y="0"/>
                  </a:moveTo>
                  <a:lnTo>
                    <a:pt x="1185733" y="0"/>
                  </a:lnTo>
                  <a:cubicBezTo>
                    <a:pt x="1207642" y="0"/>
                    <a:pt x="1228652" y="8703"/>
                    <a:pt x="1244144" y="24194"/>
                  </a:cubicBezTo>
                  <a:cubicBezTo>
                    <a:pt x="1259635" y="39686"/>
                    <a:pt x="1268338" y="60696"/>
                    <a:pt x="1268338" y="82605"/>
                  </a:cubicBezTo>
                  <a:lnTo>
                    <a:pt x="1268338" y="1557863"/>
                  </a:lnTo>
                  <a:cubicBezTo>
                    <a:pt x="1268338" y="1579771"/>
                    <a:pt x="1259635" y="1600782"/>
                    <a:pt x="1244144" y="1616273"/>
                  </a:cubicBezTo>
                  <a:cubicBezTo>
                    <a:pt x="1228652" y="1631765"/>
                    <a:pt x="1207642" y="1640468"/>
                    <a:pt x="1185733" y="1640468"/>
                  </a:cubicBezTo>
                  <a:lnTo>
                    <a:pt x="82605" y="1640468"/>
                  </a:lnTo>
                  <a:cubicBezTo>
                    <a:pt x="60696" y="1640468"/>
                    <a:pt x="39686" y="1631765"/>
                    <a:pt x="24194" y="1616273"/>
                  </a:cubicBezTo>
                  <a:cubicBezTo>
                    <a:pt x="8703" y="1600782"/>
                    <a:pt x="0" y="1579771"/>
                    <a:pt x="0" y="1557863"/>
                  </a:cubicBezTo>
                  <a:lnTo>
                    <a:pt x="0" y="82605"/>
                  </a:lnTo>
                  <a:cubicBezTo>
                    <a:pt x="0" y="60696"/>
                    <a:pt x="8703" y="39686"/>
                    <a:pt x="24194" y="24194"/>
                  </a:cubicBezTo>
                  <a:cubicBezTo>
                    <a:pt x="39686" y="8703"/>
                    <a:pt x="60696" y="0"/>
                    <a:pt x="82605" y="0"/>
                  </a:cubicBezTo>
                  <a:close/>
                </a:path>
              </a:pathLst>
            </a:custGeom>
            <a:solidFill>
              <a:srgbClr val="DD9C47"/>
            </a:solidFill>
          </p:spPr>
          <p:txBody>
            <a:bodyPr/>
            <a:lstStyle/>
            <a:p>
              <a:endParaRPr lang="en-US"/>
            </a:p>
          </p:txBody>
        </p:sp>
        <p:sp>
          <p:nvSpPr>
            <p:cNvPr id="31" name="TextBox 31"/>
            <p:cNvSpPr txBox="1"/>
            <p:nvPr/>
          </p:nvSpPr>
          <p:spPr>
            <a:xfrm>
              <a:off x="0" y="-38100"/>
              <a:ext cx="1268338" cy="1678568"/>
            </a:xfrm>
            <a:prstGeom prst="rect">
              <a:avLst/>
            </a:prstGeom>
          </p:spPr>
          <p:txBody>
            <a:bodyPr lIns="30648" tIns="30648" rIns="30648" bIns="30648" rtlCol="0" anchor="ctr"/>
            <a:lstStyle/>
            <a:p>
              <a:pPr algn="ctr">
                <a:lnSpc>
                  <a:spcPts val="2659"/>
                </a:lnSpc>
              </a:pPr>
              <a:endParaRPr/>
            </a:p>
          </p:txBody>
        </p:sp>
      </p:grpSp>
      <p:sp>
        <p:nvSpPr>
          <p:cNvPr id="32" name="Freeform 32"/>
          <p:cNvSpPr/>
          <p:nvPr/>
        </p:nvSpPr>
        <p:spPr>
          <a:xfrm>
            <a:off x="13949287" y="64675"/>
            <a:ext cx="2685753" cy="1611452"/>
          </a:xfrm>
          <a:custGeom>
            <a:avLst/>
            <a:gdLst/>
            <a:ahLst/>
            <a:cxnLst/>
            <a:rect l="l" t="t" r="r" b="b"/>
            <a:pathLst>
              <a:path w="2685753" h="1611452">
                <a:moveTo>
                  <a:pt x="0" y="0"/>
                </a:moveTo>
                <a:lnTo>
                  <a:pt x="2685753" y="0"/>
                </a:lnTo>
                <a:lnTo>
                  <a:pt x="2685753" y="1611452"/>
                </a:lnTo>
                <a:lnTo>
                  <a:pt x="0" y="1611452"/>
                </a:lnTo>
                <a:lnTo>
                  <a:pt x="0" y="0"/>
                </a:lnTo>
                <a:close/>
              </a:path>
            </a:pathLst>
          </a:custGeom>
          <a:blipFill>
            <a:blip r:embed="rId8"/>
            <a:stretch>
              <a:fillRect/>
            </a:stretch>
          </a:blipFill>
        </p:spPr>
        <p:txBody>
          <a:bodyPr/>
          <a:lstStyle/>
          <a:p>
            <a:endParaRPr lang="en-US"/>
          </a:p>
        </p:txBody>
      </p:sp>
      <p:sp>
        <p:nvSpPr>
          <p:cNvPr id="33" name="TextBox 33"/>
          <p:cNvSpPr txBox="1"/>
          <p:nvPr/>
        </p:nvSpPr>
        <p:spPr>
          <a:xfrm>
            <a:off x="410881" y="710854"/>
            <a:ext cx="10386705" cy="3386673"/>
          </a:xfrm>
          <a:prstGeom prst="rect">
            <a:avLst/>
          </a:prstGeom>
        </p:spPr>
        <p:txBody>
          <a:bodyPr lIns="0" tIns="0" rIns="0" bIns="0" rtlCol="0" anchor="t">
            <a:spAutoFit/>
          </a:bodyPr>
          <a:lstStyle/>
          <a:p>
            <a:pPr algn="ctr">
              <a:lnSpc>
                <a:spcPts val="8833"/>
              </a:lnSpc>
            </a:pPr>
            <a:r>
              <a:rPr lang="en-US" sz="8333">
                <a:solidFill>
                  <a:srgbClr val="000000"/>
                </a:solidFill>
                <a:latin typeface="Yearbook Solid"/>
              </a:rPr>
              <a:t>Benefits of </a:t>
            </a:r>
          </a:p>
          <a:p>
            <a:pPr algn="ctr">
              <a:lnSpc>
                <a:spcPts val="8833"/>
              </a:lnSpc>
            </a:pPr>
            <a:r>
              <a:rPr lang="en-US" sz="8333">
                <a:solidFill>
                  <a:srgbClr val="000000"/>
                </a:solidFill>
                <a:latin typeface="Yearbook Solid"/>
              </a:rPr>
              <a:t>Sports </a:t>
            </a:r>
          </a:p>
          <a:p>
            <a:pPr algn="ctr">
              <a:lnSpc>
                <a:spcPts val="8833"/>
              </a:lnSpc>
            </a:pPr>
            <a:r>
              <a:rPr lang="en-US" sz="8333">
                <a:solidFill>
                  <a:srgbClr val="000000"/>
                </a:solidFill>
                <a:latin typeface="Yearbook Solid"/>
              </a:rPr>
              <a:t>Analytics</a:t>
            </a:r>
          </a:p>
        </p:txBody>
      </p:sp>
      <p:sp>
        <p:nvSpPr>
          <p:cNvPr id="34" name="TextBox 34"/>
          <p:cNvSpPr txBox="1"/>
          <p:nvPr/>
        </p:nvSpPr>
        <p:spPr>
          <a:xfrm>
            <a:off x="1904484" y="4634042"/>
            <a:ext cx="7910008" cy="4556030"/>
          </a:xfrm>
          <a:prstGeom prst="rect">
            <a:avLst/>
          </a:prstGeom>
        </p:spPr>
        <p:txBody>
          <a:bodyPr lIns="0" tIns="0" rIns="0" bIns="0" rtlCol="0" anchor="t">
            <a:spAutoFit/>
          </a:bodyPr>
          <a:lstStyle/>
          <a:p>
            <a:pPr marL="702481" lvl="1" indent="-351240" algn="l">
              <a:lnSpc>
                <a:spcPts val="4555"/>
              </a:lnSpc>
              <a:buFont typeface="Arial"/>
              <a:buChar char="•"/>
            </a:pPr>
            <a:r>
              <a:rPr lang="en-US" sz="3253">
                <a:solidFill>
                  <a:srgbClr val="2B2125"/>
                </a:solidFill>
                <a:latin typeface="Trebuchet MS"/>
              </a:rPr>
              <a:t>Informed Decision-Making</a:t>
            </a:r>
          </a:p>
          <a:p>
            <a:pPr marL="702481" lvl="1" indent="-351240" algn="l">
              <a:lnSpc>
                <a:spcPts val="4555"/>
              </a:lnSpc>
              <a:buFont typeface="Arial"/>
              <a:buChar char="•"/>
            </a:pPr>
            <a:r>
              <a:rPr lang="en-US" sz="3253">
                <a:solidFill>
                  <a:srgbClr val="2B2125"/>
                </a:solidFill>
                <a:latin typeface="Trebuchet MS"/>
              </a:rPr>
              <a:t>Increased Revenue</a:t>
            </a:r>
          </a:p>
          <a:p>
            <a:pPr marL="702481" lvl="1" indent="-351240" algn="l">
              <a:lnSpc>
                <a:spcPts val="4555"/>
              </a:lnSpc>
              <a:buFont typeface="Arial"/>
              <a:buChar char="•"/>
            </a:pPr>
            <a:r>
              <a:rPr lang="en-US" sz="3253">
                <a:solidFill>
                  <a:srgbClr val="2B2125"/>
                </a:solidFill>
                <a:latin typeface="Trebuchet MS"/>
              </a:rPr>
              <a:t>Enhanced Performance</a:t>
            </a:r>
          </a:p>
          <a:p>
            <a:pPr marL="702481" lvl="1" indent="-351240" algn="l">
              <a:lnSpc>
                <a:spcPts val="4555"/>
              </a:lnSpc>
              <a:buFont typeface="Arial"/>
              <a:buChar char="•"/>
            </a:pPr>
            <a:r>
              <a:rPr lang="en-US" sz="3253">
                <a:solidFill>
                  <a:srgbClr val="2B2125"/>
                </a:solidFill>
                <a:latin typeface="Trebuchet MS"/>
              </a:rPr>
              <a:t>Talent Scouting</a:t>
            </a:r>
          </a:p>
          <a:p>
            <a:pPr marL="702481" lvl="1" indent="-351240" algn="l">
              <a:lnSpc>
                <a:spcPts val="4555"/>
              </a:lnSpc>
              <a:buFont typeface="Arial"/>
              <a:buChar char="•"/>
            </a:pPr>
            <a:r>
              <a:rPr lang="en-US" sz="3253">
                <a:solidFill>
                  <a:srgbClr val="2B2125"/>
                </a:solidFill>
                <a:latin typeface="Trebuchet MS"/>
              </a:rPr>
              <a:t>Risk Management</a:t>
            </a:r>
          </a:p>
          <a:p>
            <a:pPr marL="702481" lvl="1" indent="-351240" algn="l">
              <a:lnSpc>
                <a:spcPts val="4555"/>
              </a:lnSpc>
              <a:buFont typeface="Arial"/>
              <a:buChar char="•"/>
            </a:pPr>
            <a:r>
              <a:rPr lang="en-US" sz="3253">
                <a:solidFill>
                  <a:srgbClr val="2B2125"/>
                </a:solidFill>
                <a:latin typeface="Trebuchet MS"/>
              </a:rPr>
              <a:t>Fan Engagement</a:t>
            </a:r>
          </a:p>
          <a:p>
            <a:pPr marL="702481" lvl="1" indent="-351240" algn="l">
              <a:lnSpc>
                <a:spcPts val="4555"/>
              </a:lnSpc>
              <a:buFont typeface="Arial"/>
              <a:buChar char="•"/>
            </a:pPr>
            <a:r>
              <a:rPr lang="en-US" sz="3253">
                <a:solidFill>
                  <a:srgbClr val="2B2125"/>
                </a:solidFill>
                <a:latin typeface="Trebuchet MS"/>
              </a:rPr>
              <a:t>Operational Efficiency</a:t>
            </a:r>
          </a:p>
          <a:p>
            <a:pPr marL="0" lvl="0" indent="0" algn="l">
              <a:lnSpc>
                <a:spcPts val="4555"/>
              </a:lnSpc>
              <a:spcBef>
                <a:spcPct val="0"/>
              </a:spcBef>
            </a:pPr>
            <a:endParaRPr lang="en-US" sz="3253">
              <a:solidFill>
                <a:srgbClr val="2B2125"/>
              </a:solidFill>
              <a:latin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480225" y="-8302241"/>
            <a:ext cx="3327549" cy="19062697"/>
            <a:chOff x="0" y="0"/>
            <a:chExt cx="876392" cy="5020628"/>
          </a:xfrm>
        </p:grpSpPr>
        <p:sp>
          <p:nvSpPr>
            <p:cNvPr id="3" name="Freeform 3"/>
            <p:cNvSpPr/>
            <p:nvPr/>
          </p:nvSpPr>
          <p:spPr>
            <a:xfrm>
              <a:off x="0" y="0"/>
              <a:ext cx="876392" cy="5020628"/>
            </a:xfrm>
            <a:custGeom>
              <a:avLst/>
              <a:gdLst/>
              <a:ahLst/>
              <a:cxnLst/>
              <a:rect l="l" t="t" r="r" b="b"/>
              <a:pathLst>
                <a:path w="876392" h="5020628">
                  <a:moveTo>
                    <a:pt x="0" y="0"/>
                  </a:moveTo>
                  <a:lnTo>
                    <a:pt x="876392" y="0"/>
                  </a:lnTo>
                  <a:lnTo>
                    <a:pt x="876392" y="5020628"/>
                  </a:lnTo>
                  <a:lnTo>
                    <a:pt x="0" y="5020628"/>
                  </a:lnTo>
                  <a:close/>
                </a:path>
              </a:pathLst>
            </a:custGeom>
            <a:solidFill>
              <a:srgbClr val="000000"/>
            </a:solidFill>
          </p:spPr>
          <p:txBody>
            <a:bodyPr/>
            <a:lstStyle/>
            <a:p>
              <a:endParaRPr lang="en-US"/>
            </a:p>
          </p:txBody>
        </p:sp>
        <p:sp>
          <p:nvSpPr>
            <p:cNvPr id="4" name="TextBox 4"/>
            <p:cNvSpPr txBox="1"/>
            <p:nvPr/>
          </p:nvSpPr>
          <p:spPr>
            <a:xfrm>
              <a:off x="0" y="-38100"/>
              <a:ext cx="876392" cy="505872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980209" y="3441871"/>
            <a:ext cx="6317850" cy="8068899"/>
            <a:chOff x="0" y="0"/>
            <a:chExt cx="2184921" cy="2790491"/>
          </a:xfrm>
        </p:grpSpPr>
        <p:sp>
          <p:nvSpPr>
            <p:cNvPr id="6" name="Freeform 6"/>
            <p:cNvSpPr/>
            <p:nvPr/>
          </p:nvSpPr>
          <p:spPr>
            <a:xfrm>
              <a:off x="0" y="0"/>
              <a:ext cx="2184921" cy="2790491"/>
            </a:xfrm>
            <a:custGeom>
              <a:avLst/>
              <a:gdLst/>
              <a:ahLst/>
              <a:cxnLst/>
              <a:rect l="l" t="t" r="r" b="b"/>
              <a:pathLst>
                <a:path w="2184921" h="2790491">
                  <a:moveTo>
                    <a:pt x="51467" y="0"/>
                  </a:moveTo>
                  <a:lnTo>
                    <a:pt x="2133454" y="0"/>
                  </a:lnTo>
                  <a:cubicBezTo>
                    <a:pt x="2147104" y="0"/>
                    <a:pt x="2160195" y="5422"/>
                    <a:pt x="2169847" y="15074"/>
                  </a:cubicBezTo>
                  <a:cubicBezTo>
                    <a:pt x="2179499" y="24726"/>
                    <a:pt x="2184921" y="37817"/>
                    <a:pt x="2184921" y="51467"/>
                  </a:cubicBezTo>
                  <a:lnTo>
                    <a:pt x="2184921" y="2739024"/>
                  </a:lnTo>
                  <a:cubicBezTo>
                    <a:pt x="2184921" y="2767449"/>
                    <a:pt x="2161878" y="2790491"/>
                    <a:pt x="2133454" y="2790491"/>
                  </a:cubicBezTo>
                  <a:lnTo>
                    <a:pt x="51467" y="2790491"/>
                  </a:lnTo>
                  <a:cubicBezTo>
                    <a:pt x="23043" y="2790491"/>
                    <a:pt x="0" y="2767449"/>
                    <a:pt x="0" y="2739024"/>
                  </a:cubicBezTo>
                  <a:lnTo>
                    <a:pt x="0" y="51467"/>
                  </a:lnTo>
                  <a:cubicBezTo>
                    <a:pt x="0" y="23043"/>
                    <a:pt x="23043" y="0"/>
                    <a:pt x="51467" y="0"/>
                  </a:cubicBezTo>
                  <a:close/>
                </a:path>
              </a:pathLst>
            </a:custGeom>
            <a:solidFill>
              <a:srgbClr val="DD9C47"/>
            </a:solidFill>
          </p:spPr>
          <p:txBody>
            <a:bodyPr/>
            <a:lstStyle/>
            <a:p>
              <a:endParaRPr lang="en-US"/>
            </a:p>
          </p:txBody>
        </p:sp>
        <p:sp>
          <p:nvSpPr>
            <p:cNvPr id="7" name="TextBox 7"/>
            <p:cNvSpPr txBox="1"/>
            <p:nvPr/>
          </p:nvSpPr>
          <p:spPr>
            <a:xfrm>
              <a:off x="0" y="-38100"/>
              <a:ext cx="2184921" cy="2828591"/>
            </a:xfrm>
            <a:prstGeom prst="rect">
              <a:avLst/>
            </a:prstGeom>
          </p:spPr>
          <p:txBody>
            <a:bodyPr lIns="22961" tIns="22961" rIns="22961" bIns="22961" rtlCol="0" anchor="ctr"/>
            <a:lstStyle/>
            <a:p>
              <a:pPr algn="ctr">
                <a:lnSpc>
                  <a:spcPts val="2660"/>
                </a:lnSpc>
              </a:pPr>
              <a:endParaRPr/>
            </a:p>
          </p:txBody>
        </p:sp>
      </p:grpSp>
      <p:sp>
        <p:nvSpPr>
          <p:cNvPr id="8" name="Freeform 8"/>
          <p:cNvSpPr/>
          <p:nvPr/>
        </p:nvSpPr>
        <p:spPr>
          <a:xfrm>
            <a:off x="11197655" y="3871967"/>
            <a:ext cx="5882959" cy="7817886"/>
          </a:xfrm>
          <a:custGeom>
            <a:avLst/>
            <a:gdLst/>
            <a:ahLst/>
            <a:cxnLst/>
            <a:rect l="l" t="t" r="r" b="b"/>
            <a:pathLst>
              <a:path w="5882959" h="7817886">
                <a:moveTo>
                  <a:pt x="0" y="0"/>
                </a:moveTo>
                <a:lnTo>
                  <a:pt x="5882959" y="0"/>
                </a:lnTo>
                <a:lnTo>
                  <a:pt x="5882959" y="7817886"/>
                </a:lnTo>
                <a:lnTo>
                  <a:pt x="0" y="7817886"/>
                </a:lnTo>
                <a:lnTo>
                  <a:pt x="0" y="0"/>
                </a:lnTo>
                <a:close/>
              </a:path>
            </a:pathLst>
          </a:custGeom>
          <a:blipFill>
            <a:blip r:embed="rId2"/>
            <a:stretch>
              <a:fillRect/>
            </a:stretch>
          </a:blipFill>
        </p:spPr>
        <p:txBody>
          <a:bodyPr/>
          <a:lstStyle/>
          <a:p>
            <a:endParaRPr lang="en-US"/>
          </a:p>
        </p:txBody>
      </p:sp>
      <p:sp>
        <p:nvSpPr>
          <p:cNvPr id="9" name="Freeform 9"/>
          <p:cNvSpPr/>
          <p:nvPr/>
        </p:nvSpPr>
        <p:spPr>
          <a:xfrm>
            <a:off x="-387349" y="-7937393"/>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3">
              <a:alphaModFix amt="42000"/>
            </a:blip>
            <a:stretch>
              <a:fillRect/>
            </a:stretch>
          </a:blipFill>
        </p:spPr>
        <p:txBody>
          <a:bodyPr/>
          <a:lstStyle/>
          <a:p>
            <a:endParaRPr lang="en-US"/>
          </a:p>
        </p:txBody>
      </p:sp>
      <p:sp>
        <p:nvSpPr>
          <p:cNvPr id="10" name="Freeform 10"/>
          <p:cNvSpPr/>
          <p:nvPr/>
        </p:nvSpPr>
        <p:spPr>
          <a:xfrm>
            <a:off x="10382162" y="-7937393"/>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3">
              <a:alphaModFix amt="42000"/>
            </a:blip>
            <a:stretch>
              <a:fillRect/>
            </a:stretch>
          </a:blipFill>
        </p:spPr>
        <p:txBody>
          <a:bodyPr/>
          <a:lstStyle/>
          <a:p>
            <a:endParaRPr lang="en-US"/>
          </a:p>
        </p:txBody>
      </p:sp>
      <p:sp>
        <p:nvSpPr>
          <p:cNvPr id="11" name="TextBox 11"/>
          <p:cNvSpPr txBox="1"/>
          <p:nvPr/>
        </p:nvSpPr>
        <p:spPr>
          <a:xfrm>
            <a:off x="893939" y="173028"/>
            <a:ext cx="16365361" cy="2719854"/>
          </a:xfrm>
          <a:prstGeom prst="rect">
            <a:avLst/>
          </a:prstGeom>
        </p:spPr>
        <p:txBody>
          <a:bodyPr lIns="0" tIns="0" rIns="0" bIns="0" rtlCol="0" anchor="t">
            <a:spAutoFit/>
          </a:bodyPr>
          <a:lstStyle/>
          <a:p>
            <a:pPr algn="ctr">
              <a:lnSpc>
                <a:spcPts val="10533"/>
              </a:lnSpc>
            </a:pPr>
            <a:r>
              <a:rPr lang="en-US" sz="9936">
                <a:solidFill>
                  <a:srgbClr val="FFFFFF"/>
                </a:solidFill>
                <a:latin typeface="Yearbook Solid"/>
              </a:rPr>
              <a:t>What do sports analytics do</a:t>
            </a:r>
          </a:p>
        </p:txBody>
      </p:sp>
      <p:sp>
        <p:nvSpPr>
          <p:cNvPr id="12" name="TextBox 12"/>
          <p:cNvSpPr txBox="1"/>
          <p:nvPr/>
        </p:nvSpPr>
        <p:spPr>
          <a:xfrm>
            <a:off x="719791" y="3805292"/>
            <a:ext cx="9081891" cy="5821585"/>
          </a:xfrm>
          <a:prstGeom prst="rect">
            <a:avLst/>
          </a:prstGeom>
        </p:spPr>
        <p:txBody>
          <a:bodyPr lIns="0" tIns="0" rIns="0" bIns="0" rtlCol="0" anchor="t">
            <a:spAutoFit/>
          </a:bodyPr>
          <a:lstStyle/>
          <a:p>
            <a:pPr algn="l">
              <a:lnSpc>
                <a:spcPts val="3575"/>
              </a:lnSpc>
            </a:pPr>
            <a:r>
              <a:rPr lang="en-US" sz="2553">
                <a:solidFill>
                  <a:srgbClr val="2B2125"/>
                </a:solidFill>
                <a:latin typeface="Trebuchet MS"/>
              </a:rPr>
              <a:t>Sports analytics involves the application of data, statistical models, and computer algorithms to evaluate and optimize performance in athletics. It encompasses various forms of data analysis, ranging from simple statistics like player averages and game outcomes to complex machine learning models predicting player injuries or match results. Analytics can offer insights into player performance, tactical approaches, and even fan engagement, allowing coaches, managers, and organizations to make more informed decisions. Whether through tracking sensors, game footage, or historical data, analytics tools compile large sets of information to derive actionable intelligence.</a:t>
            </a:r>
          </a:p>
          <a:p>
            <a:pPr marL="0" lvl="0" indent="0" algn="l">
              <a:lnSpc>
                <a:spcPts val="3575"/>
              </a:lnSpc>
              <a:spcBef>
                <a:spcPct val="0"/>
              </a:spcBef>
            </a:pPr>
            <a:endParaRPr lang="en-US" sz="2553">
              <a:solidFill>
                <a:srgbClr val="2B2125"/>
              </a:solidFill>
              <a:latin typeface="Trebuchet M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99058" y="-271638"/>
            <a:ext cx="10830275" cy="10830275"/>
          </a:xfrm>
          <a:custGeom>
            <a:avLst/>
            <a:gdLst/>
            <a:ahLst/>
            <a:cxnLst/>
            <a:rect l="l" t="t" r="r" b="b"/>
            <a:pathLst>
              <a:path w="10830275" h="10830275">
                <a:moveTo>
                  <a:pt x="0" y="0"/>
                </a:moveTo>
                <a:lnTo>
                  <a:pt x="10830275" y="0"/>
                </a:lnTo>
                <a:lnTo>
                  <a:pt x="10830275" y="10830276"/>
                </a:lnTo>
                <a:lnTo>
                  <a:pt x="0" y="10830276"/>
                </a:lnTo>
                <a:lnTo>
                  <a:pt x="0" y="0"/>
                </a:lnTo>
                <a:close/>
              </a:path>
            </a:pathLst>
          </a:custGeom>
          <a:blipFill>
            <a:blip r:embed="rId2">
              <a:alphaModFix amt="42000"/>
            </a:blip>
            <a:stretch>
              <a:fillRect/>
            </a:stretch>
          </a:blipFill>
        </p:spPr>
        <p:txBody>
          <a:bodyPr/>
          <a:lstStyle/>
          <a:p>
            <a:endParaRPr lang="en-US"/>
          </a:p>
        </p:txBody>
      </p:sp>
      <p:sp>
        <p:nvSpPr>
          <p:cNvPr id="3" name="TextBox 3"/>
          <p:cNvSpPr txBox="1"/>
          <p:nvPr/>
        </p:nvSpPr>
        <p:spPr>
          <a:xfrm>
            <a:off x="1492064" y="768659"/>
            <a:ext cx="6463900" cy="8902083"/>
          </a:xfrm>
          <a:prstGeom prst="rect">
            <a:avLst/>
          </a:prstGeom>
        </p:spPr>
        <p:txBody>
          <a:bodyPr lIns="0" tIns="0" rIns="0" bIns="0" rtlCol="0" anchor="t">
            <a:spAutoFit/>
          </a:bodyPr>
          <a:lstStyle/>
          <a:p>
            <a:pPr algn="l">
              <a:lnSpc>
                <a:spcPts val="11698"/>
              </a:lnSpc>
            </a:pPr>
            <a:r>
              <a:rPr lang="en-US" sz="11036">
                <a:solidFill>
                  <a:srgbClr val="FFFFFF"/>
                </a:solidFill>
                <a:latin typeface="Yearbook Solid"/>
              </a:rPr>
              <a:t>How is sports analytics used in sports</a:t>
            </a:r>
          </a:p>
        </p:txBody>
      </p:sp>
      <p:grpSp>
        <p:nvGrpSpPr>
          <p:cNvPr id="4" name="Group 4"/>
          <p:cNvGrpSpPr/>
          <p:nvPr/>
        </p:nvGrpSpPr>
        <p:grpSpPr>
          <a:xfrm>
            <a:off x="9631217" y="-248565"/>
            <a:ext cx="10759770" cy="10784131"/>
            <a:chOff x="0" y="0"/>
            <a:chExt cx="2833849" cy="2840265"/>
          </a:xfrm>
        </p:grpSpPr>
        <p:sp>
          <p:nvSpPr>
            <p:cNvPr id="5" name="Freeform 5"/>
            <p:cNvSpPr/>
            <p:nvPr/>
          </p:nvSpPr>
          <p:spPr>
            <a:xfrm>
              <a:off x="0" y="0"/>
              <a:ext cx="2833849" cy="2840265"/>
            </a:xfrm>
            <a:custGeom>
              <a:avLst/>
              <a:gdLst/>
              <a:ahLst/>
              <a:cxnLst/>
              <a:rect l="l" t="t" r="r" b="b"/>
              <a:pathLst>
                <a:path w="2833849" h="2840265">
                  <a:moveTo>
                    <a:pt x="0" y="0"/>
                  </a:moveTo>
                  <a:lnTo>
                    <a:pt x="2833849" y="0"/>
                  </a:lnTo>
                  <a:lnTo>
                    <a:pt x="2833849" y="2840265"/>
                  </a:lnTo>
                  <a:lnTo>
                    <a:pt x="0" y="2840265"/>
                  </a:lnTo>
                  <a:close/>
                </a:path>
              </a:pathLst>
            </a:custGeom>
            <a:solidFill>
              <a:srgbClr val="ECE4DB"/>
            </a:solidFill>
          </p:spPr>
          <p:txBody>
            <a:bodyPr/>
            <a:lstStyle/>
            <a:p>
              <a:endParaRPr lang="en-US"/>
            </a:p>
          </p:txBody>
        </p:sp>
        <p:sp>
          <p:nvSpPr>
            <p:cNvPr id="6" name="TextBox 6"/>
            <p:cNvSpPr txBox="1"/>
            <p:nvPr/>
          </p:nvSpPr>
          <p:spPr>
            <a:xfrm>
              <a:off x="0" y="-38100"/>
              <a:ext cx="2833849" cy="2878365"/>
            </a:xfrm>
            <a:prstGeom prst="rect">
              <a:avLst/>
            </a:prstGeom>
          </p:spPr>
          <p:txBody>
            <a:bodyPr lIns="50800" tIns="50800" rIns="50800" bIns="50800" rtlCol="0" anchor="ctr"/>
            <a:lstStyle/>
            <a:p>
              <a:pPr algn="ctr">
                <a:lnSpc>
                  <a:spcPts val="3376"/>
                </a:lnSpc>
              </a:pPr>
              <a:endParaRPr/>
            </a:p>
          </p:txBody>
        </p:sp>
      </p:grpSp>
      <p:sp>
        <p:nvSpPr>
          <p:cNvPr id="7" name="TextBox 7"/>
          <p:cNvSpPr txBox="1"/>
          <p:nvPr/>
        </p:nvSpPr>
        <p:spPr>
          <a:xfrm>
            <a:off x="10419369" y="492434"/>
            <a:ext cx="6839931" cy="8366365"/>
          </a:xfrm>
          <a:prstGeom prst="rect">
            <a:avLst/>
          </a:prstGeom>
        </p:spPr>
        <p:txBody>
          <a:bodyPr lIns="0" tIns="0" rIns="0" bIns="0" rtlCol="0" anchor="t">
            <a:spAutoFit/>
          </a:bodyPr>
          <a:lstStyle/>
          <a:p>
            <a:pPr algn="l">
              <a:lnSpc>
                <a:spcPts val="4162"/>
              </a:lnSpc>
            </a:pPr>
            <a:r>
              <a:rPr lang="en-US" sz="2553">
                <a:solidFill>
                  <a:srgbClr val="2B2125"/>
                </a:solidFill>
                <a:latin typeface="Trebuchet MS"/>
              </a:rPr>
              <a:t>In the context of sports, analytics serves multiple functions. On the field, coaches and analysts use data to assess player performance, inform tactical decisions, and devise game plans. For example, basketball coaches may use analytics to identify shooting hot spots of opponents, while soccer managers might use data to optimize player positions and strategies. Sports analytics also play a vital role in player health and wellness. By analyzing data from wearable devices and medical reports, teams can anticipate player injuries and manage workload, contributing to optimal athletic performance and extended career longevity.</a:t>
            </a:r>
          </a:p>
          <a:p>
            <a:pPr algn="l">
              <a:lnSpc>
                <a:spcPts val="4162"/>
              </a:lnSpc>
            </a:pPr>
            <a:endParaRPr lang="en-US" sz="2553">
              <a:solidFill>
                <a:srgbClr val="2B2125"/>
              </a:solidFill>
              <a:latin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99058" y="-271638"/>
            <a:ext cx="10830275" cy="10830275"/>
          </a:xfrm>
          <a:custGeom>
            <a:avLst/>
            <a:gdLst/>
            <a:ahLst/>
            <a:cxnLst/>
            <a:rect l="l" t="t" r="r" b="b"/>
            <a:pathLst>
              <a:path w="10830275" h="10830275">
                <a:moveTo>
                  <a:pt x="0" y="0"/>
                </a:moveTo>
                <a:lnTo>
                  <a:pt x="10830275" y="0"/>
                </a:lnTo>
                <a:lnTo>
                  <a:pt x="10830275" y="10830276"/>
                </a:lnTo>
                <a:lnTo>
                  <a:pt x="0" y="10830276"/>
                </a:lnTo>
                <a:lnTo>
                  <a:pt x="0" y="0"/>
                </a:lnTo>
                <a:close/>
              </a:path>
            </a:pathLst>
          </a:custGeom>
          <a:blipFill>
            <a:blip r:embed="rId2">
              <a:alphaModFix amt="42000"/>
            </a:blip>
            <a:stretch>
              <a:fillRect/>
            </a:stretch>
          </a:blipFill>
        </p:spPr>
        <p:txBody>
          <a:bodyPr/>
          <a:lstStyle/>
          <a:p>
            <a:endParaRPr lang="en-US"/>
          </a:p>
        </p:txBody>
      </p:sp>
      <p:sp>
        <p:nvSpPr>
          <p:cNvPr id="3" name="TextBox 3"/>
          <p:cNvSpPr txBox="1"/>
          <p:nvPr/>
        </p:nvSpPr>
        <p:spPr>
          <a:xfrm>
            <a:off x="616821" y="866775"/>
            <a:ext cx="9707449" cy="8474419"/>
          </a:xfrm>
          <a:prstGeom prst="rect">
            <a:avLst/>
          </a:prstGeom>
        </p:spPr>
        <p:txBody>
          <a:bodyPr lIns="0" tIns="0" rIns="0" bIns="0" rtlCol="0" anchor="t">
            <a:spAutoFit/>
          </a:bodyPr>
          <a:lstStyle/>
          <a:p>
            <a:pPr algn="l">
              <a:lnSpc>
                <a:spcPts val="13476"/>
              </a:lnSpc>
            </a:pPr>
            <a:r>
              <a:rPr lang="en-US" sz="9837">
                <a:solidFill>
                  <a:srgbClr val="FFFFFF"/>
                </a:solidFill>
                <a:latin typeface="Yearbook Solid"/>
              </a:rPr>
              <a:t>What is sports analytics in business intelligence</a:t>
            </a:r>
          </a:p>
        </p:txBody>
      </p:sp>
      <p:grpSp>
        <p:nvGrpSpPr>
          <p:cNvPr id="4" name="Group 4"/>
          <p:cNvGrpSpPr/>
          <p:nvPr/>
        </p:nvGrpSpPr>
        <p:grpSpPr>
          <a:xfrm>
            <a:off x="9631217" y="-248565"/>
            <a:ext cx="10759770" cy="10784131"/>
            <a:chOff x="0" y="0"/>
            <a:chExt cx="2833849" cy="2840265"/>
          </a:xfrm>
        </p:grpSpPr>
        <p:sp>
          <p:nvSpPr>
            <p:cNvPr id="5" name="Freeform 5"/>
            <p:cNvSpPr/>
            <p:nvPr/>
          </p:nvSpPr>
          <p:spPr>
            <a:xfrm>
              <a:off x="0" y="0"/>
              <a:ext cx="2833849" cy="2840265"/>
            </a:xfrm>
            <a:custGeom>
              <a:avLst/>
              <a:gdLst/>
              <a:ahLst/>
              <a:cxnLst/>
              <a:rect l="l" t="t" r="r" b="b"/>
              <a:pathLst>
                <a:path w="2833849" h="2840265">
                  <a:moveTo>
                    <a:pt x="0" y="0"/>
                  </a:moveTo>
                  <a:lnTo>
                    <a:pt x="2833849" y="0"/>
                  </a:lnTo>
                  <a:lnTo>
                    <a:pt x="2833849" y="2840265"/>
                  </a:lnTo>
                  <a:lnTo>
                    <a:pt x="0" y="2840265"/>
                  </a:lnTo>
                  <a:close/>
                </a:path>
              </a:pathLst>
            </a:custGeom>
            <a:solidFill>
              <a:srgbClr val="ECE4DB"/>
            </a:solidFill>
          </p:spPr>
          <p:txBody>
            <a:bodyPr/>
            <a:lstStyle/>
            <a:p>
              <a:endParaRPr lang="en-US"/>
            </a:p>
          </p:txBody>
        </p:sp>
        <p:sp>
          <p:nvSpPr>
            <p:cNvPr id="6" name="TextBox 6"/>
            <p:cNvSpPr txBox="1"/>
            <p:nvPr/>
          </p:nvSpPr>
          <p:spPr>
            <a:xfrm>
              <a:off x="0" y="-38100"/>
              <a:ext cx="2833849" cy="2878365"/>
            </a:xfrm>
            <a:prstGeom prst="rect">
              <a:avLst/>
            </a:prstGeom>
          </p:spPr>
          <p:txBody>
            <a:bodyPr lIns="50800" tIns="50800" rIns="50800" bIns="50800" rtlCol="0" anchor="ctr"/>
            <a:lstStyle/>
            <a:p>
              <a:pPr algn="ctr">
                <a:lnSpc>
                  <a:spcPts val="3376"/>
                </a:lnSpc>
              </a:pPr>
              <a:endParaRPr/>
            </a:p>
          </p:txBody>
        </p:sp>
      </p:grpSp>
      <p:sp>
        <p:nvSpPr>
          <p:cNvPr id="7" name="TextBox 7"/>
          <p:cNvSpPr txBox="1"/>
          <p:nvPr/>
        </p:nvSpPr>
        <p:spPr>
          <a:xfrm>
            <a:off x="10324270" y="677915"/>
            <a:ext cx="6839931" cy="8890240"/>
          </a:xfrm>
          <a:prstGeom prst="rect">
            <a:avLst/>
          </a:prstGeom>
        </p:spPr>
        <p:txBody>
          <a:bodyPr lIns="0" tIns="0" rIns="0" bIns="0" rtlCol="0" anchor="t">
            <a:spAutoFit/>
          </a:bodyPr>
          <a:lstStyle/>
          <a:p>
            <a:pPr algn="l">
              <a:lnSpc>
                <a:spcPts val="4162"/>
              </a:lnSpc>
            </a:pPr>
            <a:r>
              <a:rPr lang="en-US" sz="2553">
                <a:solidFill>
                  <a:srgbClr val="2B2125"/>
                </a:solidFill>
                <a:latin typeface="Trebuchet MS"/>
              </a:rPr>
              <a:t>In the realm of business intelligence, sports analytics contributes to optimizing various aspects of sports management and operations. From ticket sales and merchandise revenue to fan engagement and brand partnerships, analytics help organizations become more data-driven. By utilizing tools like customer segmentation, predictive modeling, and real-time dashboards, sports teams can create targeted marketing campaigns, enhance fan experiences, and improve operational efficiency. Essentially, business intelligence in sports analytics aims to provide a 360-degree view of an organization’s health and opportunities, thereby informing strategic business decisions.</a:t>
            </a:r>
          </a:p>
          <a:p>
            <a:pPr algn="l">
              <a:lnSpc>
                <a:spcPts val="4162"/>
              </a:lnSpc>
            </a:pPr>
            <a:endParaRPr lang="en-US" sz="2553">
              <a:solidFill>
                <a:srgbClr val="2B2125"/>
              </a:solidFill>
              <a:latin typeface="Trebuchet M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99058" y="-271638"/>
            <a:ext cx="10830275" cy="10830275"/>
          </a:xfrm>
          <a:custGeom>
            <a:avLst/>
            <a:gdLst/>
            <a:ahLst/>
            <a:cxnLst/>
            <a:rect l="l" t="t" r="r" b="b"/>
            <a:pathLst>
              <a:path w="10830275" h="10830275">
                <a:moveTo>
                  <a:pt x="0" y="0"/>
                </a:moveTo>
                <a:lnTo>
                  <a:pt x="10830275" y="0"/>
                </a:lnTo>
                <a:lnTo>
                  <a:pt x="10830275" y="10830276"/>
                </a:lnTo>
                <a:lnTo>
                  <a:pt x="0" y="10830276"/>
                </a:lnTo>
                <a:lnTo>
                  <a:pt x="0" y="0"/>
                </a:lnTo>
                <a:close/>
              </a:path>
            </a:pathLst>
          </a:custGeom>
          <a:blipFill>
            <a:blip r:embed="rId2">
              <a:alphaModFix amt="42000"/>
            </a:blip>
            <a:stretch>
              <a:fillRect/>
            </a:stretch>
          </a:blipFill>
        </p:spPr>
        <p:txBody>
          <a:bodyPr/>
          <a:lstStyle/>
          <a:p>
            <a:endParaRPr lang="en-US"/>
          </a:p>
        </p:txBody>
      </p:sp>
      <p:sp>
        <p:nvSpPr>
          <p:cNvPr id="3" name="TextBox 3"/>
          <p:cNvSpPr txBox="1"/>
          <p:nvPr/>
        </p:nvSpPr>
        <p:spPr>
          <a:xfrm>
            <a:off x="616821" y="847725"/>
            <a:ext cx="9707449" cy="7600793"/>
          </a:xfrm>
          <a:prstGeom prst="rect">
            <a:avLst/>
          </a:prstGeom>
        </p:spPr>
        <p:txBody>
          <a:bodyPr lIns="0" tIns="0" rIns="0" bIns="0" rtlCol="0" anchor="t">
            <a:spAutoFit/>
          </a:bodyPr>
          <a:lstStyle/>
          <a:p>
            <a:pPr algn="l">
              <a:lnSpc>
                <a:spcPts val="15120"/>
              </a:lnSpc>
            </a:pPr>
            <a:r>
              <a:rPr lang="en-US" sz="11036">
                <a:solidFill>
                  <a:srgbClr val="FFFFFF"/>
                </a:solidFill>
                <a:latin typeface="Yearbook Solid"/>
              </a:rPr>
              <a:t>How is analytics changing sports</a:t>
            </a:r>
          </a:p>
        </p:txBody>
      </p:sp>
      <p:grpSp>
        <p:nvGrpSpPr>
          <p:cNvPr id="4" name="Group 4"/>
          <p:cNvGrpSpPr/>
          <p:nvPr/>
        </p:nvGrpSpPr>
        <p:grpSpPr>
          <a:xfrm>
            <a:off x="9631217" y="-248565"/>
            <a:ext cx="10759770" cy="10784131"/>
            <a:chOff x="0" y="0"/>
            <a:chExt cx="2833849" cy="2840265"/>
          </a:xfrm>
        </p:grpSpPr>
        <p:sp>
          <p:nvSpPr>
            <p:cNvPr id="5" name="Freeform 5"/>
            <p:cNvSpPr/>
            <p:nvPr/>
          </p:nvSpPr>
          <p:spPr>
            <a:xfrm>
              <a:off x="0" y="0"/>
              <a:ext cx="2833849" cy="2840265"/>
            </a:xfrm>
            <a:custGeom>
              <a:avLst/>
              <a:gdLst/>
              <a:ahLst/>
              <a:cxnLst/>
              <a:rect l="l" t="t" r="r" b="b"/>
              <a:pathLst>
                <a:path w="2833849" h="2840265">
                  <a:moveTo>
                    <a:pt x="0" y="0"/>
                  </a:moveTo>
                  <a:lnTo>
                    <a:pt x="2833849" y="0"/>
                  </a:lnTo>
                  <a:lnTo>
                    <a:pt x="2833849" y="2840265"/>
                  </a:lnTo>
                  <a:lnTo>
                    <a:pt x="0" y="2840265"/>
                  </a:lnTo>
                  <a:close/>
                </a:path>
              </a:pathLst>
            </a:custGeom>
            <a:solidFill>
              <a:srgbClr val="ECE4DB"/>
            </a:solidFill>
          </p:spPr>
          <p:txBody>
            <a:bodyPr/>
            <a:lstStyle/>
            <a:p>
              <a:endParaRPr lang="en-US"/>
            </a:p>
          </p:txBody>
        </p:sp>
        <p:sp>
          <p:nvSpPr>
            <p:cNvPr id="6" name="TextBox 6"/>
            <p:cNvSpPr txBox="1"/>
            <p:nvPr/>
          </p:nvSpPr>
          <p:spPr>
            <a:xfrm>
              <a:off x="0" y="-38100"/>
              <a:ext cx="2833849" cy="2878365"/>
            </a:xfrm>
            <a:prstGeom prst="rect">
              <a:avLst/>
            </a:prstGeom>
          </p:spPr>
          <p:txBody>
            <a:bodyPr lIns="50800" tIns="50800" rIns="50800" bIns="50800" rtlCol="0" anchor="ctr"/>
            <a:lstStyle/>
            <a:p>
              <a:pPr algn="ctr">
                <a:lnSpc>
                  <a:spcPts val="3376"/>
                </a:lnSpc>
              </a:pPr>
              <a:endParaRPr/>
            </a:p>
          </p:txBody>
        </p:sp>
      </p:grpSp>
      <p:sp>
        <p:nvSpPr>
          <p:cNvPr id="7" name="TextBox 7"/>
          <p:cNvSpPr txBox="1"/>
          <p:nvPr/>
        </p:nvSpPr>
        <p:spPr>
          <a:xfrm>
            <a:off x="10324270" y="677915"/>
            <a:ext cx="6839931" cy="9414115"/>
          </a:xfrm>
          <a:prstGeom prst="rect">
            <a:avLst/>
          </a:prstGeom>
        </p:spPr>
        <p:txBody>
          <a:bodyPr lIns="0" tIns="0" rIns="0" bIns="0" rtlCol="0" anchor="t">
            <a:spAutoFit/>
          </a:bodyPr>
          <a:lstStyle/>
          <a:p>
            <a:pPr algn="l">
              <a:lnSpc>
                <a:spcPts val="4162"/>
              </a:lnSpc>
            </a:pPr>
            <a:r>
              <a:rPr lang="en-US" sz="2553">
                <a:solidFill>
                  <a:srgbClr val="2B2125"/>
                </a:solidFill>
                <a:latin typeface="Trebuchet MS"/>
              </a:rPr>
              <a:t>Analytics is fundamentally changing the way sports are played, managed, and consumed. Advanced statistical models and real-time data are making teams more strategic and informed, challenging traditional approaches to coaching and game planning. Analytics has also ushered in new metrics that provide deeper insights into player performance and team dynamics, often redefining what skills and strategies are valued. Additionally, analytics is influencing fan engagement by personalizing experiences through tailored marketing campaigns and interactive, data-driven applications. Overall, the incorporation of analytics is making sports more precise, more engaging, and increasingly oriented around data-based decisions.</a:t>
            </a:r>
          </a:p>
          <a:p>
            <a:pPr algn="l">
              <a:lnSpc>
                <a:spcPts val="4162"/>
              </a:lnSpc>
            </a:pPr>
            <a:endParaRPr lang="en-US" sz="2553">
              <a:solidFill>
                <a:srgbClr val="2B2125"/>
              </a:solidFill>
              <a:latin typeface="Trebuchet M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99058" y="-271638"/>
            <a:ext cx="10830275" cy="10830275"/>
          </a:xfrm>
          <a:custGeom>
            <a:avLst/>
            <a:gdLst/>
            <a:ahLst/>
            <a:cxnLst/>
            <a:rect l="l" t="t" r="r" b="b"/>
            <a:pathLst>
              <a:path w="10830275" h="10830275">
                <a:moveTo>
                  <a:pt x="0" y="0"/>
                </a:moveTo>
                <a:lnTo>
                  <a:pt x="10830275" y="0"/>
                </a:lnTo>
                <a:lnTo>
                  <a:pt x="10830275" y="10830276"/>
                </a:lnTo>
                <a:lnTo>
                  <a:pt x="0" y="10830276"/>
                </a:lnTo>
                <a:lnTo>
                  <a:pt x="0" y="0"/>
                </a:lnTo>
                <a:close/>
              </a:path>
            </a:pathLst>
          </a:custGeom>
          <a:blipFill>
            <a:blip r:embed="rId2">
              <a:alphaModFix amt="42000"/>
            </a:blip>
            <a:stretch>
              <a:fillRect/>
            </a:stretch>
          </a:blipFill>
        </p:spPr>
        <p:txBody>
          <a:bodyPr/>
          <a:lstStyle/>
          <a:p>
            <a:endParaRPr lang="en-US"/>
          </a:p>
        </p:txBody>
      </p:sp>
      <p:sp>
        <p:nvSpPr>
          <p:cNvPr id="3" name="TextBox 3"/>
          <p:cNvSpPr txBox="1"/>
          <p:nvPr/>
        </p:nvSpPr>
        <p:spPr>
          <a:xfrm>
            <a:off x="616821" y="847725"/>
            <a:ext cx="9707449" cy="7600793"/>
          </a:xfrm>
          <a:prstGeom prst="rect">
            <a:avLst/>
          </a:prstGeom>
        </p:spPr>
        <p:txBody>
          <a:bodyPr lIns="0" tIns="0" rIns="0" bIns="0" rtlCol="0" anchor="t">
            <a:spAutoFit/>
          </a:bodyPr>
          <a:lstStyle/>
          <a:p>
            <a:pPr algn="l">
              <a:lnSpc>
                <a:spcPts val="15120"/>
              </a:lnSpc>
            </a:pPr>
            <a:r>
              <a:rPr lang="en-US" sz="11036">
                <a:solidFill>
                  <a:srgbClr val="FFFFFF"/>
                </a:solidFill>
                <a:latin typeface="Yearbook Solid"/>
              </a:rPr>
              <a:t>What is the future of sports analytics</a:t>
            </a:r>
          </a:p>
        </p:txBody>
      </p:sp>
      <p:grpSp>
        <p:nvGrpSpPr>
          <p:cNvPr id="4" name="Group 4"/>
          <p:cNvGrpSpPr/>
          <p:nvPr/>
        </p:nvGrpSpPr>
        <p:grpSpPr>
          <a:xfrm>
            <a:off x="9631217" y="-248565"/>
            <a:ext cx="10759770" cy="10784131"/>
            <a:chOff x="0" y="0"/>
            <a:chExt cx="2833849" cy="2840265"/>
          </a:xfrm>
        </p:grpSpPr>
        <p:sp>
          <p:nvSpPr>
            <p:cNvPr id="5" name="Freeform 5"/>
            <p:cNvSpPr/>
            <p:nvPr/>
          </p:nvSpPr>
          <p:spPr>
            <a:xfrm>
              <a:off x="0" y="0"/>
              <a:ext cx="2833849" cy="2840265"/>
            </a:xfrm>
            <a:custGeom>
              <a:avLst/>
              <a:gdLst/>
              <a:ahLst/>
              <a:cxnLst/>
              <a:rect l="l" t="t" r="r" b="b"/>
              <a:pathLst>
                <a:path w="2833849" h="2840265">
                  <a:moveTo>
                    <a:pt x="0" y="0"/>
                  </a:moveTo>
                  <a:lnTo>
                    <a:pt x="2833849" y="0"/>
                  </a:lnTo>
                  <a:lnTo>
                    <a:pt x="2833849" y="2840265"/>
                  </a:lnTo>
                  <a:lnTo>
                    <a:pt x="0" y="2840265"/>
                  </a:lnTo>
                  <a:close/>
                </a:path>
              </a:pathLst>
            </a:custGeom>
            <a:solidFill>
              <a:srgbClr val="ECE4DB"/>
            </a:solidFill>
          </p:spPr>
          <p:txBody>
            <a:bodyPr/>
            <a:lstStyle/>
            <a:p>
              <a:endParaRPr lang="en-US"/>
            </a:p>
          </p:txBody>
        </p:sp>
        <p:sp>
          <p:nvSpPr>
            <p:cNvPr id="6" name="TextBox 6"/>
            <p:cNvSpPr txBox="1"/>
            <p:nvPr/>
          </p:nvSpPr>
          <p:spPr>
            <a:xfrm>
              <a:off x="0" y="-38100"/>
              <a:ext cx="2833849" cy="2878365"/>
            </a:xfrm>
            <a:prstGeom prst="rect">
              <a:avLst/>
            </a:prstGeom>
          </p:spPr>
          <p:txBody>
            <a:bodyPr lIns="50800" tIns="50800" rIns="50800" bIns="50800" rtlCol="0" anchor="ctr"/>
            <a:lstStyle/>
            <a:p>
              <a:pPr algn="ctr">
                <a:lnSpc>
                  <a:spcPts val="3376"/>
                </a:lnSpc>
              </a:pPr>
              <a:endParaRPr/>
            </a:p>
          </p:txBody>
        </p:sp>
      </p:grpSp>
      <p:sp>
        <p:nvSpPr>
          <p:cNvPr id="7" name="TextBox 7"/>
          <p:cNvSpPr txBox="1"/>
          <p:nvPr/>
        </p:nvSpPr>
        <p:spPr>
          <a:xfrm>
            <a:off x="10324270" y="349010"/>
            <a:ext cx="6839931" cy="9937990"/>
          </a:xfrm>
          <a:prstGeom prst="rect">
            <a:avLst/>
          </a:prstGeom>
        </p:spPr>
        <p:txBody>
          <a:bodyPr lIns="0" tIns="0" rIns="0" bIns="0" rtlCol="0" anchor="t">
            <a:spAutoFit/>
          </a:bodyPr>
          <a:lstStyle/>
          <a:p>
            <a:pPr algn="l">
              <a:lnSpc>
                <a:spcPts val="4162"/>
              </a:lnSpc>
            </a:pPr>
            <a:r>
              <a:rPr lang="en-US" sz="2553">
                <a:solidFill>
                  <a:srgbClr val="2B2125"/>
                </a:solidFill>
                <a:latin typeface="Trebuchet MS"/>
              </a:rPr>
              <a:t>The future of sports analytics is poised for expansion in both depth and scope. With advances in technology, like AI and machine learning, increasingly complex questions will be answerable. For instance, we can expect predictive models to become more accurate, opening doors to dynamic, real-time coaching adjustments during games. On the business side, integration of big data and analytics will continue to enhance fan personalization, sponsorship valuation, and operational efficiency. Furthermore, as data collection becomes more sophisticated, ethical considerations concerning data privacy and usage will become paramount. In sum, sports analytics is expected to become more integrated, more advanced, and more essential in shaping the future of sports.</a:t>
            </a:r>
          </a:p>
          <a:p>
            <a:pPr algn="l">
              <a:lnSpc>
                <a:spcPts val="4162"/>
              </a:lnSpc>
            </a:pPr>
            <a:endParaRPr lang="en-US" sz="2553">
              <a:solidFill>
                <a:srgbClr val="2B2125"/>
              </a:solidFill>
              <a:latin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CE4DB"/>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7480225" y="-8302241"/>
            <a:ext cx="3327549" cy="19062697"/>
            <a:chOff x="0" y="0"/>
            <a:chExt cx="876392" cy="5020628"/>
          </a:xfrm>
        </p:grpSpPr>
        <p:sp>
          <p:nvSpPr>
            <p:cNvPr id="3" name="Freeform 3"/>
            <p:cNvSpPr/>
            <p:nvPr/>
          </p:nvSpPr>
          <p:spPr>
            <a:xfrm>
              <a:off x="0" y="0"/>
              <a:ext cx="876392" cy="5020628"/>
            </a:xfrm>
            <a:custGeom>
              <a:avLst/>
              <a:gdLst/>
              <a:ahLst/>
              <a:cxnLst/>
              <a:rect l="l" t="t" r="r" b="b"/>
              <a:pathLst>
                <a:path w="876392" h="5020628">
                  <a:moveTo>
                    <a:pt x="0" y="0"/>
                  </a:moveTo>
                  <a:lnTo>
                    <a:pt x="876392" y="0"/>
                  </a:lnTo>
                  <a:lnTo>
                    <a:pt x="876392" y="5020628"/>
                  </a:lnTo>
                  <a:lnTo>
                    <a:pt x="0" y="5020628"/>
                  </a:lnTo>
                  <a:close/>
                </a:path>
              </a:pathLst>
            </a:custGeom>
            <a:solidFill>
              <a:srgbClr val="000000"/>
            </a:solidFill>
          </p:spPr>
          <p:txBody>
            <a:bodyPr/>
            <a:lstStyle/>
            <a:p>
              <a:endParaRPr lang="en-US"/>
            </a:p>
          </p:txBody>
        </p:sp>
        <p:sp>
          <p:nvSpPr>
            <p:cNvPr id="4" name="TextBox 4"/>
            <p:cNvSpPr txBox="1"/>
            <p:nvPr/>
          </p:nvSpPr>
          <p:spPr>
            <a:xfrm>
              <a:off x="0" y="-38100"/>
              <a:ext cx="876392" cy="505872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87349" y="-7937393"/>
            <a:ext cx="10830275" cy="10830275"/>
          </a:xfrm>
          <a:custGeom>
            <a:avLst/>
            <a:gdLst/>
            <a:ahLst/>
            <a:cxnLst/>
            <a:rect l="l" t="t" r="r" b="b"/>
            <a:pathLst>
              <a:path w="10830275" h="10830275">
                <a:moveTo>
                  <a:pt x="0" y="0"/>
                </a:moveTo>
                <a:lnTo>
                  <a:pt x="10830276" y="0"/>
                </a:lnTo>
                <a:lnTo>
                  <a:pt x="10830276"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6" name="Freeform 6"/>
          <p:cNvSpPr/>
          <p:nvPr/>
        </p:nvSpPr>
        <p:spPr>
          <a:xfrm>
            <a:off x="10382162" y="-7937393"/>
            <a:ext cx="10830275" cy="10830275"/>
          </a:xfrm>
          <a:custGeom>
            <a:avLst/>
            <a:gdLst/>
            <a:ahLst/>
            <a:cxnLst/>
            <a:rect l="l" t="t" r="r" b="b"/>
            <a:pathLst>
              <a:path w="10830275" h="10830275">
                <a:moveTo>
                  <a:pt x="0" y="0"/>
                </a:moveTo>
                <a:lnTo>
                  <a:pt x="10830275" y="0"/>
                </a:lnTo>
                <a:lnTo>
                  <a:pt x="10830275" y="10830275"/>
                </a:lnTo>
                <a:lnTo>
                  <a:pt x="0" y="10830275"/>
                </a:lnTo>
                <a:lnTo>
                  <a:pt x="0" y="0"/>
                </a:lnTo>
                <a:close/>
              </a:path>
            </a:pathLst>
          </a:custGeom>
          <a:blipFill>
            <a:blip r:embed="rId2">
              <a:alphaModFix amt="42000"/>
            </a:blip>
            <a:stretch>
              <a:fillRect/>
            </a:stretch>
          </a:blipFill>
        </p:spPr>
        <p:txBody>
          <a:bodyPr/>
          <a:lstStyle/>
          <a:p>
            <a:endParaRPr lang="en-US"/>
          </a:p>
        </p:txBody>
      </p:sp>
      <p:sp>
        <p:nvSpPr>
          <p:cNvPr id="7" name="Freeform 7"/>
          <p:cNvSpPr/>
          <p:nvPr/>
        </p:nvSpPr>
        <p:spPr>
          <a:xfrm>
            <a:off x="4106277" y="3433716"/>
            <a:ext cx="1230154" cy="2282441"/>
          </a:xfrm>
          <a:custGeom>
            <a:avLst/>
            <a:gdLst/>
            <a:ahLst/>
            <a:cxnLst/>
            <a:rect l="l" t="t" r="r" b="b"/>
            <a:pathLst>
              <a:path w="1230154" h="2282441">
                <a:moveTo>
                  <a:pt x="0" y="0"/>
                </a:moveTo>
                <a:lnTo>
                  <a:pt x="1230154" y="0"/>
                </a:lnTo>
                <a:lnTo>
                  <a:pt x="1230154" y="2282442"/>
                </a:lnTo>
                <a:lnTo>
                  <a:pt x="0" y="2282442"/>
                </a:lnTo>
                <a:lnTo>
                  <a:pt x="0" y="0"/>
                </a:lnTo>
                <a:close/>
              </a:path>
            </a:pathLst>
          </a:custGeom>
          <a:blipFill>
            <a:blip r:embed="rId3"/>
            <a:stretch>
              <a:fillRect/>
            </a:stretch>
          </a:blipFill>
        </p:spPr>
        <p:txBody>
          <a:bodyPr/>
          <a:lstStyle/>
          <a:p>
            <a:endParaRPr lang="en-US"/>
          </a:p>
        </p:txBody>
      </p:sp>
      <p:sp>
        <p:nvSpPr>
          <p:cNvPr id="8" name="Freeform 8"/>
          <p:cNvSpPr/>
          <p:nvPr/>
        </p:nvSpPr>
        <p:spPr>
          <a:xfrm>
            <a:off x="1028700" y="3219185"/>
            <a:ext cx="1872591" cy="2079142"/>
          </a:xfrm>
          <a:custGeom>
            <a:avLst/>
            <a:gdLst/>
            <a:ahLst/>
            <a:cxnLst/>
            <a:rect l="l" t="t" r="r" b="b"/>
            <a:pathLst>
              <a:path w="1872591" h="2079142">
                <a:moveTo>
                  <a:pt x="0" y="0"/>
                </a:moveTo>
                <a:lnTo>
                  <a:pt x="1872591" y="0"/>
                </a:lnTo>
                <a:lnTo>
                  <a:pt x="1872591" y="2079142"/>
                </a:lnTo>
                <a:lnTo>
                  <a:pt x="0" y="2079142"/>
                </a:lnTo>
                <a:lnTo>
                  <a:pt x="0" y="0"/>
                </a:lnTo>
                <a:close/>
              </a:path>
            </a:pathLst>
          </a:custGeom>
          <a:blipFill>
            <a:blip r:embed="rId4"/>
            <a:stretch>
              <a:fillRect/>
            </a:stretch>
          </a:blipFill>
        </p:spPr>
        <p:txBody>
          <a:bodyPr/>
          <a:lstStyle/>
          <a:p>
            <a:endParaRPr lang="en-US"/>
          </a:p>
        </p:txBody>
      </p:sp>
      <p:sp>
        <p:nvSpPr>
          <p:cNvPr id="9" name="Freeform 9"/>
          <p:cNvSpPr/>
          <p:nvPr/>
        </p:nvSpPr>
        <p:spPr>
          <a:xfrm rot="-451173">
            <a:off x="906333" y="7384449"/>
            <a:ext cx="2247900" cy="1961663"/>
          </a:xfrm>
          <a:custGeom>
            <a:avLst/>
            <a:gdLst/>
            <a:ahLst/>
            <a:cxnLst/>
            <a:rect l="l" t="t" r="r" b="b"/>
            <a:pathLst>
              <a:path w="2247900" h="1961663">
                <a:moveTo>
                  <a:pt x="0" y="0"/>
                </a:moveTo>
                <a:lnTo>
                  <a:pt x="2247900" y="0"/>
                </a:lnTo>
                <a:lnTo>
                  <a:pt x="2247900" y="1961663"/>
                </a:lnTo>
                <a:lnTo>
                  <a:pt x="0" y="1961663"/>
                </a:lnTo>
                <a:lnTo>
                  <a:pt x="0" y="0"/>
                </a:lnTo>
                <a:close/>
              </a:path>
            </a:pathLst>
          </a:custGeom>
          <a:blipFill>
            <a:blip r:embed="rId5"/>
            <a:stretch>
              <a:fillRect/>
            </a:stretch>
          </a:blipFill>
        </p:spPr>
        <p:txBody>
          <a:bodyPr/>
          <a:lstStyle/>
          <a:p>
            <a:endParaRPr lang="en-US"/>
          </a:p>
        </p:txBody>
      </p:sp>
      <p:sp>
        <p:nvSpPr>
          <p:cNvPr id="10" name="Freeform 10"/>
          <p:cNvSpPr/>
          <p:nvPr/>
        </p:nvSpPr>
        <p:spPr>
          <a:xfrm rot="484463">
            <a:off x="5286247" y="4827393"/>
            <a:ext cx="1898594" cy="2646124"/>
          </a:xfrm>
          <a:custGeom>
            <a:avLst/>
            <a:gdLst/>
            <a:ahLst/>
            <a:cxnLst/>
            <a:rect l="l" t="t" r="r" b="b"/>
            <a:pathLst>
              <a:path w="1898594" h="2646124">
                <a:moveTo>
                  <a:pt x="0" y="0"/>
                </a:moveTo>
                <a:lnTo>
                  <a:pt x="1898594" y="0"/>
                </a:lnTo>
                <a:lnTo>
                  <a:pt x="1898594" y="2646124"/>
                </a:lnTo>
                <a:lnTo>
                  <a:pt x="0" y="2646124"/>
                </a:lnTo>
                <a:lnTo>
                  <a:pt x="0" y="0"/>
                </a:lnTo>
                <a:close/>
              </a:path>
            </a:pathLst>
          </a:custGeom>
          <a:blipFill>
            <a:blip r:embed="rId6"/>
            <a:stretch>
              <a:fillRect/>
            </a:stretch>
          </a:blipFill>
        </p:spPr>
        <p:txBody>
          <a:bodyPr/>
          <a:lstStyle/>
          <a:p>
            <a:endParaRPr lang="en-US"/>
          </a:p>
        </p:txBody>
      </p:sp>
      <p:sp>
        <p:nvSpPr>
          <p:cNvPr id="11" name="Freeform 11"/>
          <p:cNvSpPr/>
          <p:nvPr/>
        </p:nvSpPr>
        <p:spPr>
          <a:xfrm>
            <a:off x="6283094" y="3005297"/>
            <a:ext cx="2053674" cy="1843173"/>
          </a:xfrm>
          <a:custGeom>
            <a:avLst/>
            <a:gdLst/>
            <a:ahLst/>
            <a:cxnLst/>
            <a:rect l="l" t="t" r="r" b="b"/>
            <a:pathLst>
              <a:path w="2053674" h="1843173">
                <a:moveTo>
                  <a:pt x="0" y="0"/>
                </a:moveTo>
                <a:lnTo>
                  <a:pt x="2053674" y="0"/>
                </a:lnTo>
                <a:lnTo>
                  <a:pt x="2053674" y="1843172"/>
                </a:lnTo>
                <a:lnTo>
                  <a:pt x="0" y="1843172"/>
                </a:lnTo>
                <a:lnTo>
                  <a:pt x="0" y="0"/>
                </a:lnTo>
                <a:close/>
              </a:path>
            </a:pathLst>
          </a:custGeom>
          <a:blipFill>
            <a:blip r:embed="rId7"/>
            <a:stretch>
              <a:fillRect/>
            </a:stretch>
          </a:blipFill>
        </p:spPr>
        <p:txBody>
          <a:bodyPr/>
          <a:lstStyle/>
          <a:p>
            <a:endParaRPr lang="en-US"/>
          </a:p>
        </p:txBody>
      </p:sp>
      <p:sp>
        <p:nvSpPr>
          <p:cNvPr id="12" name="Freeform 12"/>
          <p:cNvSpPr/>
          <p:nvPr/>
        </p:nvSpPr>
        <p:spPr>
          <a:xfrm rot="-679784">
            <a:off x="14959422" y="7048533"/>
            <a:ext cx="2884765" cy="2633496"/>
          </a:xfrm>
          <a:custGeom>
            <a:avLst/>
            <a:gdLst/>
            <a:ahLst/>
            <a:cxnLst/>
            <a:rect l="l" t="t" r="r" b="b"/>
            <a:pathLst>
              <a:path w="2884765" h="2633496">
                <a:moveTo>
                  <a:pt x="0" y="0"/>
                </a:moveTo>
                <a:lnTo>
                  <a:pt x="2884765" y="0"/>
                </a:lnTo>
                <a:lnTo>
                  <a:pt x="2884765" y="2633495"/>
                </a:lnTo>
                <a:lnTo>
                  <a:pt x="0" y="2633495"/>
                </a:lnTo>
                <a:lnTo>
                  <a:pt x="0" y="0"/>
                </a:lnTo>
                <a:close/>
              </a:path>
            </a:pathLst>
          </a:custGeom>
          <a:blipFill>
            <a:blip r:embed="rId8"/>
            <a:stretch>
              <a:fillRect/>
            </a:stretch>
          </a:blipFill>
        </p:spPr>
        <p:txBody>
          <a:bodyPr/>
          <a:lstStyle/>
          <a:p>
            <a:endParaRPr lang="en-US"/>
          </a:p>
        </p:txBody>
      </p:sp>
      <p:sp>
        <p:nvSpPr>
          <p:cNvPr id="13" name="Freeform 13"/>
          <p:cNvSpPr/>
          <p:nvPr/>
        </p:nvSpPr>
        <p:spPr>
          <a:xfrm>
            <a:off x="12551219" y="7590950"/>
            <a:ext cx="1910929" cy="2121918"/>
          </a:xfrm>
          <a:custGeom>
            <a:avLst/>
            <a:gdLst/>
            <a:ahLst/>
            <a:cxnLst/>
            <a:rect l="l" t="t" r="r" b="b"/>
            <a:pathLst>
              <a:path w="1910929" h="2121918">
                <a:moveTo>
                  <a:pt x="0" y="0"/>
                </a:moveTo>
                <a:lnTo>
                  <a:pt x="1910929" y="0"/>
                </a:lnTo>
                <a:lnTo>
                  <a:pt x="1910929" y="2121918"/>
                </a:lnTo>
                <a:lnTo>
                  <a:pt x="0" y="2121918"/>
                </a:lnTo>
                <a:lnTo>
                  <a:pt x="0" y="0"/>
                </a:lnTo>
                <a:close/>
              </a:path>
            </a:pathLst>
          </a:custGeom>
          <a:blipFill>
            <a:blip r:embed="rId9"/>
            <a:stretch>
              <a:fillRect/>
            </a:stretch>
          </a:blipFill>
        </p:spPr>
        <p:txBody>
          <a:bodyPr/>
          <a:lstStyle/>
          <a:p>
            <a:endParaRPr lang="en-US"/>
          </a:p>
        </p:txBody>
      </p:sp>
      <p:sp>
        <p:nvSpPr>
          <p:cNvPr id="14" name="Freeform 14"/>
          <p:cNvSpPr/>
          <p:nvPr/>
        </p:nvSpPr>
        <p:spPr>
          <a:xfrm>
            <a:off x="6235544" y="7856075"/>
            <a:ext cx="1964521" cy="1908866"/>
          </a:xfrm>
          <a:custGeom>
            <a:avLst/>
            <a:gdLst/>
            <a:ahLst/>
            <a:cxnLst/>
            <a:rect l="l" t="t" r="r" b="b"/>
            <a:pathLst>
              <a:path w="1964521" h="1908866">
                <a:moveTo>
                  <a:pt x="0" y="0"/>
                </a:moveTo>
                <a:lnTo>
                  <a:pt x="1964521" y="0"/>
                </a:lnTo>
                <a:lnTo>
                  <a:pt x="1964521" y="1908866"/>
                </a:lnTo>
                <a:lnTo>
                  <a:pt x="0" y="1908866"/>
                </a:lnTo>
                <a:lnTo>
                  <a:pt x="0" y="0"/>
                </a:lnTo>
                <a:close/>
              </a:path>
            </a:pathLst>
          </a:custGeom>
          <a:blipFill>
            <a:blip r:embed="rId10"/>
            <a:stretch>
              <a:fillRect/>
            </a:stretch>
          </a:blipFill>
        </p:spPr>
        <p:txBody>
          <a:bodyPr/>
          <a:lstStyle/>
          <a:p>
            <a:endParaRPr lang="en-US"/>
          </a:p>
        </p:txBody>
      </p:sp>
      <p:sp>
        <p:nvSpPr>
          <p:cNvPr id="15" name="Freeform 15"/>
          <p:cNvSpPr/>
          <p:nvPr/>
        </p:nvSpPr>
        <p:spPr>
          <a:xfrm>
            <a:off x="15797300" y="3261165"/>
            <a:ext cx="1801124" cy="1759856"/>
          </a:xfrm>
          <a:custGeom>
            <a:avLst/>
            <a:gdLst/>
            <a:ahLst/>
            <a:cxnLst/>
            <a:rect l="l" t="t" r="r" b="b"/>
            <a:pathLst>
              <a:path w="1801124" h="1759856">
                <a:moveTo>
                  <a:pt x="0" y="0"/>
                </a:moveTo>
                <a:lnTo>
                  <a:pt x="1801124" y="0"/>
                </a:lnTo>
                <a:lnTo>
                  <a:pt x="1801124" y="1759856"/>
                </a:lnTo>
                <a:lnTo>
                  <a:pt x="0" y="1759856"/>
                </a:lnTo>
                <a:lnTo>
                  <a:pt x="0" y="0"/>
                </a:lnTo>
                <a:close/>
              </a:path>
            </a:pathLst>
          </a:custGeom>
          <a:blipFill>
            <a:blip r:embed="rId11"/>
            <a:stretch>
              <a:fillRect/>
            </a:stretch>
          </a:blipFill>
        </p:spPr>
        <p:txBody>
          <a:bodyPr/>
          <a:lstStyle/>
          <a:p>
            <a:endParaRPr lang="en-US"/>
          </a:p>
        </p:txBody>
      </p:sp>
      <p:sp>
        <p:nvSpPr>
          <p:cNvPr id="16" name="Freeform 16"/>
          <p:cNvSpPr/>
          <p:nvPr/>
        </p:nvSpPr>
        <p:spPr>
          <a:xfrm>
            <a:off x="13576191" y="4776681"/>
            <a:ext cx="2349277" cy="2386138"/>
          </a:xfrm>
          <a:custGeom>
            <a:avLst/>
            <a:gdLst/>
            <a:ahLst/>
            <a:cxnLst/>
            <a:rect l="l" t="t" r="r" b="b"/>
            <a:pathLst>
              <a:path w="2349277" h="2386138">
                <a:moveTo>
                  <a:pt x="0" y="0"/>
                </a:moveTo>
                <a:lnTo>
                  <a:pt x="2349277" y="0"/>
                </a:lnTo>
                <a:lnTo>
                  <a:pt x="2349277" y="2386138"/>
                </a:lnTo>
                <a:lnTo>
                  <a:pt x="0" y="2386138"/>
                </a:lnTo>
                <a:lnTo>
                  <a:pt x="0" y="0"/>
                </a:lnTo>
                <a:close/>
              </a:path>
            </a:pathLst>
          </a:custGeom>
          <a:blipFill>
            <a:blip r:embed="rId12"/>
            <a:stretch>
              <a:fillRect/>
            </a:stretch>
          </a:blipFill>
        </p:spPr>
        <p:txBody>
          <a:bodyPr/>
          <a:lstStyle/>
          <a:p>
            <a:endParaRPr lang="en-US"/>
          </a:p>
        </p:txBody>
      </p:sp>
      <p:sp>
        <p:nvSpPr>
          <p:cNvPr id="17" name="Freeform 17"/>
          <p:cNvSpPr/>
          <p:nvPr/>
        </p:nvSpPr>
        <p:spPr>
          <a:xfrm>
            <a:off x="10442927" y="3404683"/>
            <a:ext cx="2108292" cy="2190434"/>
          </a:xfrm>
          <a:custGeom>
            <a:avLst/>
            <a:gdLst/>
            <a:ahLst/>
            <a:cxnLst/>
            <a:rect l="l" t="t" r="r" b="b"/>
            <a:pathLst>
              <a:path w="2108292" h="2190434">
                <a:moveTo>
                  <a:pt x="0" y="0"/>
                </a:moveTo>
                <a:lnTo>
                  <a:pt x="2108292" y="0"/>
                </a:lnTo>
                <a:lnTo>
                  <a:pt x="2108292" y="2190434"/>
                </a:lnTo>
                <a:lnTo>
                  <a:pt x="0" y="2190434"/>
                </a:lnTo>
                <a:lnTo>
                  <a:pt x="0" y="0"/>
                </a:lnTo>
                <a:close/>
              </a:path>
            </a:pathLst>
          </a:custGeom>
          <a:blipFill>
            <a:blip r:embed="rId13"/>
            <a:stretch>
              <a:fillRect/>
            </a:stretch>
          </a:blipFill>
        </p:spPr>
        <p:txBody>
          <a:bodyPr/>
          <a:lstStyle/>
          <a:p>
            <a:endParaRPr lang="en-US"/>
          </a:p>
        </p:txBody>
      </p:sp>
      <p:sp>
        <p:nvSpPr>
          <p:cNvPr id="18" name="Freeform 18"/>
          <p:cNvSpPr/>
          <p:nvPr/>
        </p:nvSpPr>
        <p:spPr>
          <a:xfrm>
            <a:off x="12551219" y="3095720"/>
            <a:ext cx="2685753" cy="1611452"/>
          </a:xfrm>
          <a:custGeom>
            <a:avLst/>
            <a:gdLst/>
            <a:ahLst/>
            <a:cxnLst/>
            <a:rect l="l" t="t" r="r" b="b"/>
            <a:pathLst>
              <a:path w="2685753" h="1611452">
                <a:moveTo>
                  <a:pt x="0" y="0"/>
                </a:moveTo>
                <a:lnTo>
                  <a:pt x="2685753" y="0"/>
                </a:lnTo>
                <a:lnTo>
                  <a:pt x="2685753" y="1611452"/>
                </a:lnTo>
                <a:lnTo>
                  <a:pt x="0" y="1611452"/>
                </a:lnTo>
                <a:lnTo>
                  <a:pt x="0" y="0"/>
                </a:lnTo>
                <a:close/>
              </a:path>
            </a:pathLst>
          </a:custGeom>
          <a:blipFill>
            <a:blip r:embed="rId14"/>
            <a:stretch>
              <a:fillRect/>
            </a:stretch>
          </a:blipFill>
        </p:spPr>
        <p:txBody>
          <a:bodyPr/>
          <a:lstStyle/>
          <a:p>
            <a:endParaRPr lang="en-US"/>
          </a:p>
        </p:txBody>
      </p:sp>
      <p:sp>
        <p:nvSpPr>
          <p:cNvPr id="19" name="Freeform 19"/>
          <p:cNvSpPr/>
          <p:nvPr/>
        </p:nvSpPr>
        <p:spPr>
          <a:xfrm>
            <a:off x="8105700" y="3965833"/>
            <a:ext cx="2452073" cy="3258568"/>
          </a:xfrm>
          <a:custGeom>
            <a:avLst/>
            <a:gdLst/>
            <a:ahLst/>
            <a:cxnLst/>
            <a:rect l="l" t="t" r="r" b="b"/>
            <a:pathLst>
              <a:path w="2452073" h="3258568">
                <a:moveTo>
                  <a:pt x="0" y="0"/>
                </a:moveTo>
                <a:lnTo>
                  <a:pt x="2452073" y="0"/>
                </a:lnTo>
                <a:lnTo>
                  <a:pt x="2452073" y="3258568"/>
                </a:lnTo>
                <a:lnTo>
                  <a:pt x="0" y="3258568"/>
                </a:lnTo>
                <a:lnTo>
                  <a:pt x="0" y="0"/>
                </a:lnTo>
                <a:close/>
              </a:path>
            </a:pathLst>
          </a:custGeom>
          <a:blipFill>
            <a:blip r:embed="rId15"/>
            <a:stretch>
              <a:fillRect/>
            </a:stretch>
          </a:blipFill>
        </p:spPr>
        <p:txBody>
          <a:bodyPr/>
          <a:lstStyle/>
          <a:p>
            <a:endParaRPr lang="en-US"/>
          </a:p>
        </p:txBody>
      </p:sp>
      <p:sp>
        <p:nvSpPr>
          <p:cNvPr id="20" name="Freeform 20"/>
          <p:cNvSpPr/>
          <p:nvPr/>
        </p:nvSpPr>
        <p:spPr>
          <a:xfrm>
            <a:off x="8336768" y="7340499"/>
            <a:ext cx="1989936" cy="1917801"/>
          </a:xfrm>
          <a:custGeom>
            <a:avLst/>
            <a:gdLst/>
            <a:ahLst/>
            <a:cxnLst/>
            <a:rect l="l" t="t" r="r" b="b"/>
            <a:pathLst>
              <a:path w="1989936" h="1917801">
                <a:moveTo>
                  <a:pt x="0" y="0"/>
                </a:moveTo>
                <a:lnTo>
                  <a:pt x="1989936" y="0"/>
                </a:lnTo>
                <a:lnTo>
                  <a:pt x="1989936" y="1917801"/>
                </a:lnTo>
                <a:lnTo>
                  <a:pt x="0" y="1917801"/>
                </a:lnTo>
                <a:lnTo>
                  <a:pt x="0" y="0"/>
                </a:lnTo>
                <a:close/>
              </a:path>
            </a:pathLst>
          </a:custGeom>
          <a:blipFill>
            <a:blip r:embed="rId16"/>
            <a:stretch>
              <a:fillRect/>
            </a:stretch>
          </a:blipFill>
        </p:spPr>
        <p:txBody>
          <a:bodyPr/>
          <a:lstStyle/>
          <a:p>
            <a:endParaRPr lang="en-US"/>
          </a:p>
        </p:txBody>
      </p:sp>
      <p:sp>
        <p:nvSpPr>
          <p:cNvPr id="21" name="Freeform 21"/>
          <p:cNvSpPr/>
          <p:nvPr/>
        </p:nvSpPr>
        <p:spPr>
          <a:xfrm>
            <a:off x="3538104" y="7439908"/>
            <a:ext cx="2099061" cy="2180842"/>
          </a:xfrm>
          <a:custGeom>
            <a:avLst/>
            <a:gdLst/>
            <a:ahLst/>
            <a:cxnLst/>
            <a:rect l="l" t="t" r="r" b="b"/>
            <a:pathLst>
              <a:path w="2099061" h="2180842">
                <a:moveTo>
                  <a:pt x="0" y="0"/>
                </a:moveTo>
                <a:lnTo>
                  <a:pt x="2099061" y="0"/>
                </a:lnTo>
                <a:lnTo>
                  <a:pt x="2099061" y="2180842"/>
                </a:lnTo>
                <a:lnTo>
                  <a:pt x="0" y="2180842"/>
                </a:lnTo>
                <a:lnTo>
                  <a:pt x="0" y="0"/>
                </a:lnTo>
                <a:close/>
              </a:path>
            </a:pathLst>
          </a:custGeom>
          <a:blipFill>
            <a:blip r:embed="rId17"/>
            <a:stretch>
              <a:fillRect/>
            </a:stretch>
          </a:blipFill>
        </p:spPr>
        <p:txBody>
          <a:bodyPr/>
          <a:lstStyle/>
          <a:p>
            <a:endParaRPr lang="en-US"/>
          </a:p>
        </p:txBody>
      </p:sp>
      <p:sp>
        <p:nvSpPr>
          <p:cNvPr id="22" name="Freeform 22"/>
          <p:cNvSpPr/>
          <p:nvPr/>
        </p:nvSpPr>
        <p:spPr>
          <a:xfrm>
            <a:off x="2336927" y="5327340"/>
            <a:ext cx="2027954" cy="2115206"/>
          </a:xfrm>
          <a:custGeom>
            <a:avLst/>
            <a:gdLst/>
            <a:ahLst/>
            <a:cxnLst/>
            <a:rect l="l" t="t" r="r" b="b"/>
            <a:pathLst>
              <a:path w="2027954" h="2115206">
                <a:moveTo>
                  <a:pt x="0" y="0"/>
                </a:moveTo>
                <a:lnTo>
                  <a:pt x="2027954" y="0"/>
                </a:lnTo>
                <a:lnTo>
                  <a:pt x="2027954" y="2115207"/>
                </a:lnTo>
                <a:lnTo>
                  <a:pt x="0" y="2115207"/>
                </a:lnTo>
                <a:lnTo>
                  <a:pt x="0" y="0"/>
                </a:lnTo>
                <a:close/>
              </a:path>
            </a:pathLst>
          </a:custGeom>
          <a:blipFill>
            <a:blip r:embed="rId18"/>
            <a:stretch>
              <a:fillRect/>
            </a:stretch>
          </a:blipFill>
        </p:spPr>
        <p:txBody>
          <a:bodyPr/>
          <a:lstStyle/>
          <a:p>
            <a:endParaRPr lang="en-US"/>
          </a:p>
        </p:txBody>
      </p:sp>
      <p:sp>
        <p:nvSpPr>
          <p:cNvPr id="23" name="Freeform 23"/>
          <p:cNvSpPr/>
          <p:nvPr/>
        </p:nvSpPr>
        <p:spPr>
          <a:xfrm>
            <a:off x="10641669" y="5960264"/>
            <a:ext cx="2191571" cy="2405016"/>
          </a:xfrm>
          <a:custGeom>
            <a:avLst/>
            <a:gdLst/>
            <a:ahLst/>
            <a:cxnLst/>
            <a:rect l="l" t="t" r="r" b="b"/>
            <a:pathLst>
              <a:path w="2191571" h="2405016">
                <a:moveTo>
                  <a:pt x="0" y="0"/>
                </a:moveTo>
                <a:lnTo>
                  <a:pt x="2191572" y="0"/>
                </a:lnTo>
                <a:lnTo>
                  <a:pt x="2191572" y="2405016"/>
                </a:lnTo>
                <a:lnTo>
                  <a:pt x="0" y="2405016"/>
                </a:lnTo>
                <a:lnTo>
                  <a:pt x="0" y="0"/>
                </a:lnTo>
                <a:close/>
              </a:path>
            </a:pathLst>
          </a:custGeom>
          <a:blipFill>
            <a:blip r:embed="rId19"/>
            <a:stretch>
              <a:fillRect/>
            </a:stretch>
          </a:blipFill>
        </p:spPr>
        <p:txBody>
          <a:bodyPr/>
          <a:lstStyle/>
          <a:p>
            <a:endParaRPr lang="en-US"/>
          </a:p>
        </p:txBody>
      </p:sp>
      <p:sp>
        <p:nvSpPr>
          <p:cNvPr id="24" name="TextBox 24"/>
          <p:cNvSpPr txBox="1"/>
          <p:nvPr/>
        </p:nvSpPr>
        <p:spPr>
          <a:xfrm>
            <a:off x="961320" y="993723"/>
            <a:ext cx="16365361" cy="1474997"/>
          </a:xfrm>
          <a:prstGeom prst="rect">
            <a:avLst/>
          </a:prstGeom>
        </p:spPr>
        <p:txBody>
          <a:bodyPr lIns="0" tIns="0" rIns="0" bIns="0" rtlCol="0" anchor="t">
            <a:spAutoFit/>
          </a:bodyPr>
          <a:lstStyle/>
          <a:p>
            <a:pPr algn="ctr">
              <a:lnSpc>
                <a:spcPts val="11275"/>
              </a:lnSpc>
            </a:pPr>
            <a:r>
              <a:rPr lang="en-US" sz="10636">
                <a:solidFill>
                  <a:srgbClr val="FFFFFF"/>
                </a:solidFill>
                <a:latin typeface="Yearbook Soli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TotalTime>
  <Words>1546</Words>
  <Application>Microsoft Office PowerPoint</Application>
  <PresentationFormat>Custom</PresentationFormat>
  <Paragraphs>45</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Yearbook Solid</vt:lpstr>
      <vt:lpstr>Yearbook Outline</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Sports Analytics</dc:title>
  <cp:lastModifiedBy>dasa bros</cp:lastModifiedBy>
  <cp:revision>4</cp:revision>
  <dcterms:created xsi:type="dcterms:W3CDTF">2006-08-16T00:00:00Z</dcterms:created>
  <dcterms:modified xsi:type="dcterms:W3CDTF">2024-05-16T21:30:37Z</dcterms:modified>
  <dc:identifier>DAGFaZJ2Rp8</dc:identifier>
</cp:coreProperties>
</file>